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sldIdLst>
    <p:sldId id="256" r:id="rId2"/>
    <p:sldId id="258" r:id="rId3"/>
    <p:sldId id="259" r:id="rId4"/>
    <p:sldId id="274" r:id="rId5"/>
    <p:sldId id="280" r:id="rId6"/>
    <p:sldId id="275" r:id="rId7"/>
    <p:sldId id="282" r:id="rId8"/>
    <p:sldId id="277" r:id="rId9"/>
    <p:sldId id="278" r:id="rId10"/>
    <p:sldId id="281" r:id="rId11"/>
    <p:sldId id="262" r:id="rId12"/>
    <p:sldId id="279" r:id="rId13"/>
    <p:sldId id="264"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415CFE-0F4D-A8FE-1E44-C71F7408F7A0}" v="233" dt="2026-07-17T11:45:47.242"/>
    <p1510:client id="{1A42E23A-4BA3-2A40-DCC3-19B6E4652C8F}" v="279" dt="2026-07-17T10:15:10.068"/>
    <p1510:client id="{4265D00A-4C51-0072-B30F-A1EACB467C78}" v="96" dt="2026-07-17T04:40:01.688"/>
    <p1510:client id="{485B87CF-9B9D-73C3-E8A4-7DDE37E0E519}" v="22" dt="2026-07-17T16:07:58.652"/>
    <p1510:client id="{540999C9-8DCA-B7B4-3909-1628F80BAD27}" v="106" dt="2026-07-17T13:26:40.453"/>
    <p1510:client id="{75BA199C-DA93-7C36-5F02-6DC01C6DE8A6}" v="18" dt="2026-07-17T15:00:04.994"/>
    <p1510:client id="{80C0D855-FB27-B6BE-1AA1-AD9C29C9A8AD}" v="80" dt="2026-07-17T13:10:31.080"/>
    <p1510:client id="{8D9CE98A-D88F-0B8A-A85C-5D446B9994BD}" v="16" dt="2026-07-17T15:01:10.992"/>
    <p1510:client id="{BC8E1C87-C102-29E1-0271-5BE4F7C8F8DE}" v="226" dt="2026-07-17T15:17:38.347"/>
    <p1510:client id="{CEAB9040-87AC-0BA7-D5FA-17EAE0F68357}" v="49" dt="2026-07-17T11:31:25.641"/>
    <p1510:client id="{D6CC0C3B-83D8-0EB4-396F-78F0910CC0A4}" v="163" dt="2026-07-17T13:19:59.258"/>
    <p1510:client id="{D77FC229-56CC-76AC-BA8F-3088B3FA5800}" v="330" dt="2026-07-17T14:47:06.943"/>
    <p1510:client id="{E483E8DD-EF6A-E1A8-9A05-166C4EA61D42}" v="198" dt="2026-07-17T04:43:34.951"/>
    <p1510:client id="{EB2421C6-8431-EEFF-ADBF-E3E6C8374B19}" v="45" dt="2026-07-17T04:58:59.0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4052255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1521393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1529508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410D85-449D-4FAF-97DF-F7B8BDAE549D}"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1126303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410D85-449D-4FAF-97DF-F7B8BDAE549D}"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420191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84723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2445037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3523254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410D85-449D-4FAF-97DF-F7B8BDAE549D}"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30894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410D85-449D-4FAF-97DF-F7B8BDAE549D}"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21058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10478574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a:t>”</a:t>
            </a:r>
          </a:p>
        </p:txBody>
      </p:sp>
    </p:spTree>
    <p:extLst>
      <p:ext uri="{BB962C8B-B14F-4D97-AF65-F5344CB8AC3E}">
        <p14:creationId xmlns:p14="http://schemas.microsoft.com/office/powerpoint/2010/main" val="604734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12577710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3052292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701372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252300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410D85-449D-4FAF-97DF-F7B8BDAE549D}"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8B639E-F93F-4988-8ECF-57E3D37196DC}" type="slidenum">
              <a:rPr lang="en-IN" smtClean="0"/>
              <a:t>‹#›</a:t>
            </a:fld>
            <a:endParaRPr lang="en-IN"/>
          </a:p>
        </p:txBody>
      </p:sp>
    </p:spTree>
    <p:extLst>
      <p:ext uri="{BB962C8B-B14F-4D97-AF65-F5344CB8AC3E}">
        <p14:creationId xmlns:p14="http://schemas.microsoft.com/office/powerpoint/2010/main" val="55711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0410D85-449D-4FAF-97DF-F7B8BDAE549D}" type="datetimeFigureOut">
              <a:rPr lang="en-IN" smtClean="0"/>
              <a:t>17-07-2026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68B639E-F93F-4988-8ECF-57E3D37196DC}" type="slidenum">
              <a:rPr lang="en-IN" smtClean="0"/>
              <a:t>‹#›</a:t>
            </a:fld>
            <a:endParaRPr lang="en-IN"/>
          </a:p>
        </p:txBody>
      </p:sp>
    </p:spTree>
    <p:extLst>
      <p:ext uri="{BB962C8B-B14F-4D97-AF65-F5344CB8AC3E}">
        <p14:creationId xmlns:p14="http://schemas.microsoft.com/office/powerpoint/2010/main" val="3593564294"/>
      </p:ext>
    </p:extLst>
  </p:cSld>
  <p:clrMap bg1="dk1" tx1="lt1" bg2="dk2" tx2="lt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jpe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ogo for a company&#10;&#10;AI-generated content may be incorrect.">
            <a:extLst>
              <a:ext uri="{FF2B5EF4-FFF2-40B4-BE49-F238E27FC236}">
                <a16:creationId xmlns:a16="http://schemas.microsoft.com/office/drawing/2014/main" id="{0535E78B-55F5-9BD4-B715-D7991B4F7FA0}"/>
              </a:ext>
            </a:extLst>
          </p:cNvPr>
          <p:cNvPicPr>
            <a:picLocks noChangeAspect="1"/>
          </p:cNvPicPr>
          <p:nvPr/>
        </p:nvPicPr>
        <p:blipFill>
          <a:blip r:embed="rId2"/>
          <a:stretch>
            <a:fillRect/>
          </a:stretch>
        </p:blipFill>
        <p:spPr>
          <a:xfrm>
            <a:off x="24341" y="318505"/>
            <a:ext cx="1613340" cy="1180343"/>
          </a:xfrm>
          <a:prstGeom prst="rect">
            <a:avLst/>
          </a:prstGeom>
        </p:spPr>
      </p:pic>
      <p:sp>
        <p:nvSpPr>
          <p:cNvPr id="2" name="Title 1">
            <a:extLst>
              <a:ext uri="{FF2B5EF4-FFF2-40B4-BE49-F238E27FC236}">
                <a16:creationId xmlns:a16="http://schemas.microsoft.com/office/drawing/2014/main" id="{96FCEE34-31A8-002A-7A0B-5F66DC9C3A23}"/>
              </a:ext>
            </a:extLst>
          </p:cNvPr>
          <p:cNvSpPr>
            <a:spLocks noGrp="1"/>
          </p:cNvSpPr>
          <p:nvPr>
            <p:ph type="ctrTitle"/>
          </p:nvPr>
        </p:nvSpPr>
        <p:spPr>
          <a:xfrm>
            <a:off x="2121697" y="603455"/>
            <a:ext cx="9293004" cy="1790830"/>
          </a:xfrm>
        </p:spPr>
        <p:txBody>
          <a:bodyPr/>
          <a:lstStyle/>
          <a:p>
            <a:br>
              <a:rPr lang="en-US" sz="2800" b="1">
                <a:latin typeface="Aptos Narrow"/>
                <a:cs typeface="Times New Roman"/>
              </a:rPr>
            </a:br>
            <a:endParaRPr lang="en-IN" sz="2400" b="1">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56AE259-7A81-79B8-4F72-2498D2E8EFB2}"/>
              </a:ext>
            </a:extLst>
          </p:cNvPr>
          <p:cNvSpPr txBox="1"/>
          <p:nvPr/>
        </p:nvSpPr>
        <p:spPr>
          <a:xfrm>
            <a:off x="1527185" y="436039"/>
            <a:ext cx="10302206"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latin typeface="Times New Roman"/>
                <a:cs typeface="Times New Roman"/>
              </a:rPr>
              <a:t>SHRI VISHNU ENGINEERING COLLEGE FOR WOMEN(A)</a:t>
            </a:r>
            <a:endParaRPr lang="en-US" sz="2800"/>
          </a:p>
          <a:p>
            <a:pPr algn="ctr"/>
            <a:r>
              <a:rPr lang="en-US" sz="1600">
                <a:ea typeface="+mn-lt"/>
                <a:cs typeface="+mn-lt"/>
              </a:rPr>
              <a:t>                      Vishnupur,Bhimavaram ,West Godavari , Andhra Pradesh , 534202</a:t>
            </a:r>
            <a:r>
              <a:rPr lang="en-US" sz="1600" b="1">
                <a:latin typeface="Times New Roman"/>
                <a:cs typeface="Times New Roman"/>
              </a:rPr>
              <a:t>                                                </a:t>
            </a:r>
            <a:endParaRPr lang="en-US" sz="1600">
              <a:latin typeface="Century Gothic" panose="020B0502020202020204"/>
              <a:cs typeface="Times New Roman"/>
            </a:endParaRPr>
          </a:p>
          <a:p>
            <a:pPr algn="ctr"/>
            <a:r>
              <a:rPr lang="en-US" sz="1600">
                <a:ea typeface="+mn-lt"/>
                <a:cs typeface="+mn-lt"/>
              </a:rPr>
              <a:t>Recognized by AICTE , Permanent Affiliated to JNTUK-Kakinada , Accredited by NAAC with A+ Grade</a:t>
            </a:r>
          </a:p>
          <a:p>
            <a:pPr algn="ctr"/>
            <a:r>
              <a:rPr lang="en-US" sz="1600">
                <a:ea typeface="+mn-lt"/>
                <a:cs typeface="+mn-lt"/>
              </a:rPr>
              <a:t>Accredited by NBA in TIER-I Category</a:t>
            </a:r>
            <a:br>
              <a:rPr lang="en-US" sz="1600" b="1">
                <a:latin typeface="Times New Roman"/>
              </a:rPr>
            </a:br>
            <a:r>
              <a:rPr lang="en-US" sz="1600" b="1">
                <a:latin typeface="Times New Roman"/>
                <a:cs typeface="Times New Roman"/>
              </a:rPr>
              <a:t> </a:t>
            </a:r>
            <a:r>
              <a:rPr lang="en-US" b="1">
                <a:latin typeface="Times New Roman"/>
                <a:cs typeface="Times New Roman"/>
              </a:rPr>
              <a:t> DEPARTMENT OF CSE</a:t>
            </a:r>
            <a:endParaRPr lang="en-US"/>
          </a:p>
          <a:p>
            <a:pPr algn="ctr"/>
            <a:endParaRPr lang="en-US" sz="1600" b="1">
              <a:latin typeface="Times New Roman"/>
              <a:cs typeface="Times New Roman"/>
            </a:endParaRPr>
          </a:p>
        </p:txBody>
      </p:sp>
      <p:sp>
        <p:nvSpPr>
          <p:cNvPr id="7" name="TextBox 6">
            <a:extLst>
              <a:ext uri="{FF2B5EF4-FFF2-40B4-BE49-F238E27FC236}">
                <a16:creationId xmlns:a16="http://schemas.microsoft.com/office/drawing/2014/main" id="{C4EF1258-C183-A838-FE3B-9B98CBD4A402}"/>
              </a:ext>
            </a:extLst>
          </p:cNvPr>
          <p:cNvSpPr txBox="1"/>
          <p:nvPr/>
        </p:nvSpPr>
        <p:spPr>
          <a:xfrm>
            <a:off x="2764546" y="2223845"/>
            <a:ext cx="72800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Century Gothic"/>
                <a:ea typeface="Calibri"/>
                <a:cs typeface="Calibri"/>
              </a:rPr>
              <a:t>Automated Exam-sheet Grader</a:t>
            </a:r>
          </a:p>
        </p:txBody>
      </p:sp>
      <p:sp>
        <p:nvSpPr>
          <p:cNvPr id="17" name="TextBox 16">
            <a:extLst>
              <a:ext uri="{FF2B5EF4-FFF2-40B4-BE49-F238E27FC236}">
                <a16:creationId xmlns:a16="http://schemas.microsoft.com/office/drawing/2014/main" id="{8E5B0E1E-2D88-036B-949C-8F5015E20AC5}"/>
              </a:ext>
            </a:extLst>
          </p:cNvPr>
          <p:cNvSpPr txBox="1"/>
          <p:nvPr/>
        </p:nvSpPr>
        <p:spPr>
          <a:xfrm>
            <a:off x="408042" y="3306751"/>
            <a:ext cx="626930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300">
                <a:solidFill>
                  <a:schemeClr val="accent2"/>
                </a:solidFill>
              </a:rPr>
              <a:t>Guided By:</a:t>
            </a:r>
          </a:p>
          <a:p>
            <a:r>
              <a:rPr lang="en-US" sz="2300"/>
              <a:t>Dr</a:t>
            </a:r>
            <a:r>
              <a:rPr lang="en-US" sz="2300">
                <a:ea typeface="+mn-lt"/>
                <a:cs typeface="+mn-lt"/>
              </a:rPr>
              <a:t> . </a:t>
            </a:r>
            <a:r>
              <a:rPr lang="en-US" sz="2300" err="1">
                <a:ea typeface="+mn-lt"/>
                <a:cs typeface="+mn-lt"/>
              </a:rPr>
              <a:t>Pokkuluri</a:t>
            </a:r>
            <a:r>
              <a:rPr lang="en-US" sz="2300">
                <a:ea typeface="+mn-lt"/>
                <a:cs typeface="+mn-lt"/>
              </a:rPr>
              <a:t> Kiran Sree, Professor &amp; HOD </a:t>
            </a:r>
            <a:endParaRPr lang="en-US" sz="2300"/>
          </a:p>
        </p:txBody>
      </p:sp>
      <p:sp>
        <p:nvSpPr>
          <p:cNvPr id="18" name="Subtitle 2">
            <a:extLst>
              <a:ext uri="{FF2B5EF4-FFF2-40B4-BE49-F238E27FC236}">
                <a16:creationId xmlns:a16="http://schemas.microsoft.com/office/drawing/2014/main" id="{1CDCD388-2BC1-0941-AA56-1A493C221DEE}"/>
              </a:ext>
            </a:extLst>
          </p:cNvPr>
          <p:cNvSpPr>
            <a:spLocks noGrp="1"/>
          </p:cNvSpPr>
          <p:nvPr/>
        </p:nvSpPr>
        <p:spPr>
          <a:xfrm>
            <a:off x="411334" y="2650791"/>
            <a:ext cx="9632328" cy="3289989"/>
          </a:xfrm>
          <a:prstGeom prst="rect">
            <a:avLst/>
          </a:prstGeom>
        </p:spPr>
        <p:txBody>
          <a:bodyPr vert="horz" lIns="91440" tIns="45720" rIns="91440" bIns="45720" rtlCol="0" anchor="t">
            <a:noAutofit/>
          </a:bodyPr>
          <a:lstStyle>
            <a:defPPr>
              <a:defRPr lang="en-US"/>
            </a:defPPr>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en-US">
              <a:solidFill>
                <a:schemeClr val="accent1">
                  <a:lumMod val="40000"/>
                  <a:lumOff val="60000"/>
                </a:schemeClr>
              </a:solidFill>
              <a:latin typeface="Century Gothic"/>
              <a:cs typeface="Times New Roman"/>
            </a:endParaRPr>
          </a:p>
          <a:p>
            <a:endParaRPr lang="en-US">
              <a:solidFill>
                <a:schemeClr val="accent1">
                  <a:lumMod val="40000"/>
                  <a:lumOff val="60000"/>
                </a:schemeClr>
              </a:solidFill>
              <a:latin typeface="Century Gothic"/>
              <a:cs typeface="Times New Roman"/>
            </a:endParaRPr>
          </a:p>
        </p:txBody>
      </p:sp>
      <p:sp>
        <p:nvSpPr>
          <p:cNvPr id="19" name="Subtitle 2">
            <a:extLst>
              <a:ext uri="{FF2B5EF4-FFF2-40B4-BE49-F238E27FC236}">
                <a16:creationId xmlns:a16="http://schemas.microsoft.com/office/drawing/2014/main" id="{58077972-59E2-7EFC-FDCB-26E960D5B8C1}"/>
              </a:ext>
            </a:extLst>
          </p:cNvPr>
          <p:cNvSpPr>
            <a:spLocks noGrp="1"/>
          </p:cNvSpPr>
          <p:nvPr/>
        </p:nvSpPr>
        <p:spPr>
          <a:xfrm>
            <a:off x="411334" y="2650791"/>
            <a:ext cx="9632328" cy="3289989"/>
          </a:xfrm>
          <a:prstGeom prst="rect">
            <a:avLst/>
          </a:prstGeom>
        </p:spPr>
        <p:txBody>
          <a:bodyPr vert="horz" lIns="91440" tIns="45720" rIns="91440" bIns="45720" rtlCol="0" anchor="t">
            <a:noAutofit/>
          </a:bodyPr>
          <a:lstStyle>
            <a:defPPr>
              <a:defRPr lang="en-US"/>
            </a:defPPr>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en-US">
              <a:solidFill>
                <a:schemeClr val="accent1">
                  <a:lumMod val="40000"/>
                  <a:lumOff val="60000"/>
                </a:schemeClr>
              </a:solidFill>
              <a:latin typeface="Century Gothic"/>
              <a:cs typeface="Times New Roman"/>
            </a:endParaRPr>
          </a:p>
          <a:p>
            <a:endParaRPr lang="en-US">
              <a:solidFill>
                <a:schemeClr val="accent1">
                  <a:lumMod val="40000"/>
                  <a:lumOff val="60000"/>
                </a:schemeClr>
              </a:solidFill>
              <a:latin typeface="Century Gothic"/>
              <a:cs typeface="Times New Roman"/>
            </a:endParaRPr>
          </a:p>
        </p:txBody>
      </p:sp>
      <p:sp>
        <p:nvSpPr>
          <p:cNvPr id="20" name="Subtitle 2">
            <a:extLst>
              <a:ext uri="{FF2B5EF4-FFF2-40B4-BE49-F238E27FC236}">
                <a16:creationId xmlns:a16="http://schemas.microsoft.com/office/drawing/2014/main" id="{FEB73586-6503-E5AF-47A4-B14709A2E943}"/>
              </a:ext>
            </a:extLst>
          </p:cNvPr>
          <p:cNvSpPr>
            <a:spLocks noGrp="1"/>
          </p:cNvSpPr>
          <p:nvPr/>
        </p:nvSpPr>
        <p:spPr>
          <a:xfrm>
            <a:off x="411334" y="2650791"/>
            <a:ext cx="9632328" cy="3289989"/>
          </a:xfrm>
          <a:prstGeom prst="rect">
            <a:avLst/>
          </a:prstGeom>
        </p:spPr>
        <p:txBody>
          <a:bodyPr vert="horz" lIns="91440" tIns="45720" rIns="91440" bIns="45720" rtlCol="0" anchor="t">
            <a:noAutofit/>
          </a:bodyPr>
          <a:lstStyle>
            <a:defPPr>
              <a:defRPr lang="en-US"/>
            </a:defPPr>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en-US">
              <a:solidFill>
                <a:schemeClr val="accent1">
                  <a:lumMod val="40000"/>
                  <a:lumOff val="60000"/>
                </a:schemeClr>
              </a:solidFill>
              <a:latin typeface="Century Gothic"/>
              <a:cs typeface="Times New Roman"/>
            </a:endParaRPr>
          </a:p>
          <a:p>
            <a:endParaRPr lang="en-US">
              <a:solidFill>
                <a:schemeClr val="accent1">
                  <a:lumMod val="40000"/>
                  <a:lumOff val="60000"/>
                </a:schemeClr>
              </a:solidFill>
              <a:latin typeface="Century Gothic"/>
              <a:cs typeface="Times New Roman"/>
            </a:endParaRPr>
          </a:p>
        </p:txBody>
      </p:sp>
      <p:sp>
        <p:nvSpPr>
          <p:cNvPr id="21" name="Subtitle 2">
            <a:extLst>
              <a:ext uri="{FF2B5EF4-FFF2-40B4-BE49-F238E27FC236}">
                <a16:creationId xmlns:a16="http://schemas.microsoft.com/office/drawing/2014/main" id="{7E057896-FAF4-A125-F8BA-2A96DE0A8E44}"/>
              </a:ext>
            </a:extLst>
          </p:cNvPr>
          <p:cNvSpPr>
            <a:spLocks noGrp="1"/>
          </p:cNvSpPr>
          <p:nvPr/>
        </p:nvSpPr>
        <p:spPr>
          <a:xfrm>
            <a:off x="411334" y="2650791"/>
            <a:ext cx="9632328" cy="3289989"/>
          </a:xfrm>
          <a:prstGeom prst="rect">
            <a:avLst/>
          </a:prstGeom>
        </p:spPr>
        <p:txBody>
          <a:bodyPr vert="horz" lIns="91440" tIns="45720" rIns="91440" bIns="45720" rtlCol="0" anchor="t">
            <a:noAutofit/>
          </a:bodyPr>
          <a:lstStyle>
            <a:defPPr>
              <a:defRPr lang="en-US"/>
            </a:defPPr>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en-US">
              <a:solidFill>
                <a:schemeClr val="accent1">
                  <a:lumMod val="40000"/>
                  <a:lumOff val="60000"/>
                </a:schemeClr>
              </a:solidFill>
              <a:latin typeface="Century Gothic"/>
              <a:cs typeface="Times New Roman"/>
            </a:endParaRPr>
          </a:p>
          <a:p>
            <a:endParaRPr lang="en-US">
              <a:solidFill>
                <a:schemeClr val="accent1">
                  <a:lumMod val="40000"/>
                  <a:lumOff val="60000"/>
                </a:schemeClr>
              </a:solidFill>
              <a:latin typeface="Century Gothic"/>
              <a:cs typeface="Times New Roman"/>
            </a:endParaRPr>
          </a:p>
        </p:txBody>
      </p:sp>
      <p:sp>
        <p:nvSpPr>
          <p:cNvPr id="22" name="Subtitle 2">
            <a:extLst>
              <a:ext uri="{FF2B5EF4-FFF2-40B4-BE49-F238E27FC236}">
                <a16:creationId xmlns:a16="http://schemas.microsoft.com/office/drawing/2014/main" id="{92CA2BE7-B19D-4BD4-6BBD-1F4757083DB7}"/>
              </a:ext>
            </a:extLst>
          </p:cNvPr>
          <p:cNvSpPr>
            <a:spLocks noGrp="1"/>
          </p:cNvSpPr>
          <p:nvPr/>
        </p:nvSpPr>
        <p:spPr>
          <a:xfrm>
            <a:off x="411334" y="2650791"/>
            <a:ext cx="9632328" cy="3289989"/>
          </a:xfrm>
          <a:prstGeom prst="rect">
            <a:avLst/>
          </a:prstGeom>
        </p:spPr>
        <p:txBody>
          <a:bodyPr vert="horz" lIns="91440" tIns="45720" rIns="91440" bIns="45720" rtlCol="0" anchor="t">
            <a:noAutofit/>
          </a:bodyPr>
          <a:lstStyle>
            <a:defPPr>
              <a:defRPr lang="en-US"/>
            </a:defPPr>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en-US">
              <a:solidFill>
                <a:schemeClr val="accent1">
                  <a:lumMod val="40000"/>
                  <a:lumOff val="60000"/>
                </a:schemeClr>
              </a:solidFill>
              <a:latin typeface="Century Gothic"/>
              <a:cs typeface="Times New Roman"/>
            </a:endParaRPr>
          </a:p>
          <a:p>
            <a:endParaRPr lang="en-US">
              <a:solidFill>
                <a:schemeClr val="accent1">
                  <a:lumMod val="40000"/>
                  <a:lumOff val="60000"/>
                </a:schemeClr>
              </a:solidFill>
              <a:latin typeface="Century Gothic"/>
              <a:cs typeface="Times New Roman"/>
            </a:endParaRPr>
          </a:p>
        </p:txBody>
      </p:sp>
      <p:sp>
        <p:nvSpPr>
          <p:cNvPr id="23" name="Subtitle 2">
            <a:extLst>
              <a:ext uri="{FF2B5EF4-FFF2-40B4-BE49-F238E27FC236}">
                <a16:creationId xmlns:a16="http://schemas.microsoft.com/office/drawing/2014/main" id="{5C899AE6-1143-74E1-6DD2-33D79A8A71D5}"/>
              </a:ext>
            </a:extLst>
          </p:cNvPr>
          <p:cNvSpPr>
            <a:spLocks noGrp="1"/>
          </p:cNvSpPr>
          <p:nvPr/>
        </p:nvSpPr>
        <p:spPr>
          <a:xfrm>
            <a:off x="411334" y="2650791"/>
            <a:ext cx="9632328" cy="3289989"/>
          </a:xfrm>
          <a:prstGeom prst="rect">
            <a:avLst/>
          </a:prstGeom>
        </p:spPr>
        <p:txBody>
          <a:bodyPr vert="horz" lIns="91440" tIns="45720" rIns="91440" bIns="45720" rtlCol="0" anchor="t">
            <a:noAutofit/>
          </a:bodyPr>
          <a:lstStyle>
            <a:defPPr>
              <a:defRPr lang="en-US"/>
            </a:defPPr>
            <a:lvl1pPr marL="0" indent="0" algn="l" defTabSz="457200" rtl="0" eaLnBrk="1" latinLnBrk="0" hangingPunct="1">
              <a:spcBef>
                <a:spcPts val="1000"/>
              </a:spcBef>
              <a:spcAft>
                <a:spcPts val="0"/>
              </a:spcAft>
              <a:buClr>
                <a:schemeClr val="accent1"/>
              </a:buClr>
              <a:buSzPct val="80000"/>
              <a:buFont typeface="Wingdings 3" charset="2"/>
              <a:buNone/>
              <a:defRPr sz="2000" b="0" i="0" kern="1200" cap="all">
                <a:solidFill>
                  <a:schemeClr val="accent1"/>
                </a:solidFill>
                <a:latin typeface="+mj-lt"/>
                <a:ea typeface="+mj-ea"/>
                <a:cs typeface="+mj-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j-lt"/>
                <a:ea typeface="+mj-ea"/>
                <a:cs typeface="+mj-cs"/>
              </a:defRPr>
            </a:lvl9pPr>
          </a:lstStyle>
          <a:p>
            <a:endParaRPr lang="en-US">
              <a:solidFill>
                <a:schemeClr val="accent1">
                  <a:lumMod val="40000"/>
                  <a:lumOff val="60000"/>
                </a:schemeClr>
              </a:solidFill>
              <a:latin typeface="Century Gothic"/>
              <a:cs typeface="Times New Roman"/>
            </a:endParaRPr>
          </a:p>
          <a:p>
            <a:endParaRPr lang="en-US">
              <a:solidFill>
                <a:schemeClr val="accent1">
                  <a:lumMod val="40000"/>
                  <a:lumOff val="60000"/>
                </a:schemeClr>
              </a:solidFill>
              <a:latin typeface="Century Gothic"/>
              <a:cs typeface="Times New Roman"/>
            </a:endParaRPr>
          </a:p>
        </p:txBody>
      </p:sp>
      <p:sp>
        <p:nvSpPr>
          <p:cNvPr id="24" name="TextBox 23">
            <a:extLst>
              <a:ext uri="{FF2B5EF4-FFF2-40B4-BE49-F238E27FC236}">
                <a16:creationId xmlns:a16="http://schemas.microsoft.com/office/drawing/2014/main" id="{4D85AE8E-7EAE-60B1-D4DA-A2E42E3471E3}"/>
              </a:ext>
            </a:extLst>
          </p:cNvPr>
          <p:cNvSpPr txBox="1"/>
          <p:nvPr/>
        </p:nvSpPr>
        <p:spPr>
          <a:xfrm>
            <a:off x="6793988" y="3430002"/>
            <a:ext cx="6096000" cy="30008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E6C133"/>
                </a:solidFill>
                <a:latin typeface="Century Gothic"/>
                <a:cs typeface="Segoe UI"/>
              </a:rPr>
              <a:t>Presented by: Batch-A1 </a:t>
            </a:r>
            <a:r>
              <a:rPr lang="en-US" sz="2000">
                <a:solidFill>
                  <a:srgbClr val="FFFFFF"/>
                </a:solidFill>
                <a:latin typeface="Century Gothic"/>
                <a:cs typeface="Segoe UI"/>
              </a:rPr>
              <a:t>​</a:t>
            </a:r>
            <a:endParaRPr lang="en-US" sz="2000"/>
          </a:p>
          <a:p>
            <a:r>
              <a:rPr lang="en-US" sz="2000">
                <a:solidFill>
                  <a:srgbClr val="FFFFFF"/>
                </a:solidFill>
                <a:latin typeface="Century Gothic"/>
                <a:cs typeface="Segoe UI"/>
              </a:rPr>
              <a:t>A . Sri Leela Satya Ratnam – 23B01A0508 ​</a:t>
            </a:r>
            <a:endParaRPr lang="en-US" sz="2000"/>
          </a:p>
          <a:p>
            <a:r>
              <a:rPr lang="en-US" sz="2000">
                <a:solidFill>
                  <a:srgbClr val="FFFFFF"/>
                </a:solidFill>
                <a:latin typeface="Century Gothic"/>
                <a:cs typeface="Segoe UI"/>
              </a:rPr>
              <a:t>B . Jhansi Lakshmi – 23B01A0516 ​</a:t>
            </a:r>
            <a:endParaRPr lang="en-US" sz="2000"/>
          </a:p>
          <a:p>
            <a:r>
              <a:rPr lang="en-US" sz="2000">
                <a:solidFill>
                  <a:srgbClr val="FFFFFF"/>
                </a:solidFill>
                <a:latin typeface="Century Gothic"/>
                <a:cs typeface="Segoe UI"/>
              </a:rPr>
              <a:t>B . Sai Siva Harini – 23B01A0520 ​</a:t>
            </a:r>
            <a:endParaRPr lang="en-US" sz="2000"/>
          </a:p>
          <a:p>
            <a:r>
              <a:rPr lang="en-US" sz="2000">
                <a:solidFill>
                  <a:srgbClr val="FFFFFF"/>
                </a:solidFill>
                <a:latin typeface="Century Gothic"/>
                <a:cs typeface="Segoe UI"/>
              </a:rPr>
              <a:t>D . Tejo Kumari – 23B01A0538 ​</a:t>
            </a:r>
            <a:endParaRPr lang="en-US" sz="2000"/>
          </a:p>
          <a:p>
            <a:r>
              <a:rPr lang="en-US" sz="2000">
                <a:solidFill>
                  <a:srgbClr val="FFFFFF"/>
                </a:solidFill>
                <a:latin typeface="Century Gothic"/>
                <a:cs typeface="Segoe UI"/>
              </a:rPr>
              <a:t>G . </a:t>
            </a:r>
            <a:r>
              <a:rPr lang="en-US" sz="2000" err="1">
                <a:solidFill>
                  <a:srgbClr val="FFFFFF"/>
                </a:solidFill>
                <a:latin typeface="Century Gothic"/>
                <a:cs typeface="Segoe UI"/>
              </a:rPr>
              <a:t>Vahnita</a:t>
            </a:r>
            <a:r>
              <a:rPr lang="en-US" sz="2000">
                <a:solidFill>
                  <a:srgbClr val="FFFFFF"/>
                </a:solidFill>
                <a:latin typeface="Century Gothic"/>
                <a:cs typeface="Segoe UI"/>
              </a:rPr>
              <a:t> – 23B01A0558 ​</a:t>
            </a:r>
            <a:endParaRPr lang="en-US" sz="2000"/>
          </a:p>
          <a:p>
            <a:r>
              <a:rPr lang="en-US" sz="2000">
                <a:solidFill>
                  <a:srgbClr val="FFFFFF"/>
                </a:solidFill>
                <a:latin typeface="Century Gothic"/>
                <a:cs typeface="Segoe UI"/>
              </a:rPr>
              <a:t>A . Hema Sri – 24B05A0501 ​</a:t>
            </a:r>
            <a:endParaRPr lang="en-US" sz="2000"/>
          </a:p>
          <a:p>
            <a:pPr rtl="0"/>
            <a:r>
              <a:rPr lang="en-US" sz="2400">
                <a:solidFill>
                  <a:srgbClr val="FFFFFF"/>
                </a:solidFill>
                <a:latin typeface="Century Gothic"/>
                <a:ea typeface="Segoe UI"/>
                <a:cs typeface="Segoe UI"/>
              </a:rPr>
              <a:t>​</a:t>
            </a:r>
          </a:p>
          <a:p>
            <a:pPr algn="ctr"/>
            <a:endParaRPr lang="en-US"/>
          </a:p>
        </p:txBody>
      </p:sp>
    </p:spTree>
    <p:extLst>
      <p:ext uri="{BB962C8B-B14F-4D97-AF65-F5344CB8AC3E}">
        <p14:creationId xmlns:p14="http://schemas.microsoft.com/office/powerpoint/2010/main" val="23450856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A085689-791F-4B8F-9F30-12415B97D3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5" name="Picture 24">
            <a:extLst>
              <a:ext uri="{FF2B5EF4-FFF2-40B4-BE49-F238E27FC236}">
                <a16:creationId xmlns:a16="http://schemas.microsoft.com/office/drawing/2014/main" id="{AA3FED7F-6821-47C0-A464-E9278B24129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7" name="Oval 26">
            <a:extLst>
              <a:ext uri="{FF2B5EF4-FFF2-40B4-BE49-F238E27FC236}">
                <a16:creationId xmlns:a16="http://schemas.microsoft.com/office/drawing/2014/main" id="{8F54B2FB-3F54-4350-8D1B-F86D677CA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29" name="Picture 28">
            <a:extLst>
              <a:ext uri="{FF2B5EF4-FFF2-40B4-BE49-F238E27FC236}">
                <a16:creationId xmlns:a16="http://schemas.microsoft.com/office/drawing/2014/main" id="{561B34F5-88E5-4711-BC16-3005C29AD7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1" name="Picture 30">
            <a:extLst>
              <a:ext uri="{FF2B5EF4-FFF2-40B4-BE49-F238E27FC236}">
                <a16:creationId xmlns:a16="http://schemas.microsoft.com/office/drawing/2014/main" id="{4F3661D0-2268-4D3E-88BA-0647BCBE33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3" name="Rectangle 32">
            <a:extLst>
              <a:ext uri="{FF2B5EF4-FFF2-40B4-BE49-F238E27FC236}">
                <a16:creationId xmlns:a16="http://schemas.microsoft.com/office/drawing/2014/main" id="{DDB56DB5-0324-4F79-9AB8-CB18C1DC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TextBox 4">
            <a:extLst>
              <a:ext uri="{FF2B5EF4-FFF2-40B4-BE49-F238E27FC236}">
                <a16:creationId xmlns:a16="http://schemas.microsoft.com/office/drawing/2014/main" id="{30E6B393-CBB2-37FE-B5E0-B47D4E17C180}"/>
              </a:ext>
            </a:extLst>
          </p:cNvPr>
          <p:cNvSpPr txBox="1"/>
          <p:nvPr/>
        </p:nvSpPr>
        <p:spPr>
          <a:xfrm>
            <a:off x="1943090" y="525921"/>
            <a:ext cx="4814773" cy="72565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a:spcBef>
                <a:spcPct val="0"/>
              </a:spcBef>
              <a:spcAft>
                <a:spcPts val="600"/>
              </a:spcAft>
            </a:pPr>
            <a:r>
              <a:rPr lang="en-US" sz="4200" b="1">
                <a:solidFill>
                  <a:schemeClr val="tx2"/>
                </a:solidFill>
                <a:latin typeface="+mj-lt"/>
                <a:ea typeface="+mj-ea"/>
                <a:cs typeface="+mj-cs"/>
              </a:rPr>
              <a:t>ABSTRACT</a:t>
            </a:r>
          </a:p>
        </p:txBody>
      </p:sp>
      <p:pic>
        <p:nvPicPr>
          <p:cNvPr id="4" name="Picture 3" descr="A pencil on top of a paper&#10;&#10;AI-generated content may be incorrect.">
            <a:extLst>
              <a:ext uri="{FF2B5EF4-FFF2-40B4-BE49-F238E27FC236}">
                <a16:creationId xmlns:a16="http://schemas.microsoft.com/office/drawing/2014/main" id="{040C682A-729C-F695-E5DC-4DAEB9382FFD}"/>
              </a:ext>
            </a:extLst>
          </p:cNvPr>
          <p:cNvPicPr>
            <a:picLocks noChangeAspect="1"/>
          </p:cNvPicPr>
          <p:nvPr/>
        </p:nvPicPr>
        <p:blipFill>
          <a:blip r:embed="rId7"/>
          <a:srcRect l="1027" r="2323"/>
          <a:stretch>
            <a:fillRect/>
          </a:stretch>
        </p:blipFill>
        <p:spPr>
          <a:xfrm>
            <a:off x="7105541" y="1472006"/>
            <a:ext cx="4691565" cy="4839317"/>
          </a:xfrm>
          <a:prstGeom prst="rect">
            <a:avLst/>
          </a:prstGeom>
          <a:effectLst>
            <a:outerShdw blurRad="50800" dist="38100" dir="5400000" algn="t" rotWithShape="0">
              <a:prstClr val="black">
                <a:alpha val="43000"/>
              </a:prstClr>
            </a:outerShdw>
          </a:effectLst>
        </p:spPr>
      </p:pic>
      <p:sp>
        <p:nvSpPr>
          <p:cNvPr id="35" name="Rectangle 34">
            <a:extLst>
              <a:ext uri="{FF2B5EF4-FFF2-40B4-BE49-F238E27FC236}">
                <a16:creationId xmlns:a16="http://schemas.microsoft.com/office/drawing/2014/main" id="{DC111578-7105-4228-B481-A1CA45D1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TextBox 2">
            <a:extLst>
              <a:ext uri="{FF2B5EF4-FFF2-40B4-BE49-F238E27FC236}">
                <a16:creationId xmlns:a16="http://schemas.microsoft.com/office/drawing/2014/main" id="{0ACD7670-8CC8-3693-E1CD-1ED0A1347D7D}"/>
              </a:ext>
            </a:extLst>
          </p:cNvPr>
          <p:cNvSpPr txBox="1"/>
          <p:nvPr/>
        </p:nvSpPr>
        <p:spPr>
          <a:xfrm>
            <a:off x="508437" y="258135"/>
            <a:ext cx="6330902" cy="594552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just">
              <a:lnSpc>
                <a:spcPct val="90000"/>
              </a:lnSpc>
              <a:spcBef>
                <a:spcPts val="1000"/>
              </a:spcBef>
              <a:buClr>
                <a:schemeClr val="accent1"/>
              </a:buClr>
              <a:buSzPct val="80000"/>
            </a:pPr>
            <a:r>
              <a:rPr lang="en-US" sz="1500">
                <a:latin typeface="+mj-lt"/>
                <a:ea typeface="+mj-ea"/>
                <a:cs typeface="+mj-cs"/>
              </a:rPr>
              <a:t>      </a:t>
            </a:r>
            <a:r>
              <a:rPr lang="en-US" sz="2200">
                <a:latin typeface="+mj-lt"/>
                <a:ea typeface="+mj-ea"/>
                <a:cs typeface="+mj-cs"/>
              </a:rPr>
              <a:t>       </a:t>
            </a:r>
            <a:endParaRPr lang="en-US" sz="2200">
              <a:ea typeface="+mj-ea"/>
              <a:cs typeface="+mj-cs"/>
            </a:endParaRPr>
          </a:p>
          <a:p>
            <a:pPr algn="just">
              <a:lnSpc>
                <a:spcPct val="90000"/>
              </a:lnSpc>
              <a:spcBef>
                <a:spcPts val="1000"/>
              </a:spcBef>
              <a:buClr>
                <a:schemeClr val="accent1"/>
              </a:buClr>
              <a:buSzPct val="80000"/>
              <a:buFont typeface="Wingdings 3" charset="2"/>
              <a:buChar char=""/>
            </a:pPr>
            <a:endParaRPr lang="en-US" sz="2200">
              <a:latin typeface="+mj-lt"/>
              <a:ea typeface="+mj-ea"/>
              <a:cs typeface="+mj-cs"/>
            </a:endParaRPr>
          </a:p>
          <a:p>
            <a:pPr algn="just">
              <a:lnSpc>
                <a:spcPct val="90000"/>
              </a:lnSpc>
              <a:spcBef>
                <a:spcPts val="1000"/>
              </a:spcBef>
              <a:buClr>
                <a:schemeClr val="accent1"/>
              </a:buClr>
              <a:buSzPct val="80000"/>
              <a:buFont typeface="Wingdings 3" charset="2"/>
              <a:buChar char=""/>
            </a:pPr>
            <a:endParaRPr lang="en-US" sz="2200">
              <a:latin typeface="+mj-lt"/>
              <a:ea typeface="+mj-ea"/>
              <a:cs typeface="+mj-cs"/>
            </a:endParaRPr>
          </a:p>
          <a:p>
            <a:pPr algn="just">
              <a:lnSpc>
                <a:spcPct val="90000"/>
              </a:lnSpc>
              <a:spcBef>
                <a:spcPts val="1000"/>
              </a:spcBef>
              <a:buClr>
                <a:schemeClr val="accent1"/>
              </a:buClr>
              <a:buSzPct val="80000"/>
            </a:pPr>
            <a:r>
              <a:rPr lang="en-US" sz="2200">
                <a:latin typeface="Century Gothic"/>
                <a:ea typeface="Calibri"/>
                <a:cs typeface="Calibri"/>
              </a:rPr>
              <a:t>The Automated Exam Sheet Grader is an AI-powered examination management system designed to simplify and enhance the examination and evaluation process. The system  provides separate portals for teachers and students, allowing teachers to create, manage, and monitor examinations, while students can participate in exams and view their results. The system also generates detailed performance reports, grades, strengths, weaknesses, and improvement suggestions. Overall, the project improves efficiency, transparency, and reliability in the examination process.</a:t>
            </a:r>
          </a:p>
        </p:txBody>
      </p:sp>
    </p:spTree>
    <p:extLst>
      <p:ext uri="{BB962C8B-B14F-4D97-AF65-F5344CB8AC3E}">
        <p14:creationId xmlns:p14="http://schemas.microsoft.com/office/powerpoint/2010/main" val="1665066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CACBD-5BF3-4A71-99BE-744EE6F73FD2}"/>
              </a:ext>
            </a:extLst>
          </p:cNvPr>
          <p:cNvSpPr>
            <a:spLocks noGrp="1"/>
          </p:cNvSpPr>
          <p:nvPr>
            <p:ph type="title"/>
          </p:nvPr>
        </p:nvSpPr>
        <p:spPr>
          <a:xfrm>
            <a:off x="4717430" y="1090980"/>
            <a:ext cx="7272063" cy="5304703"/>
          </a:xfrm>
        </p:spPr>
        <p:txBody>
          <a:bodyPr vert="horz" lIns="91440" tIns="45720" rIns="91440" bIns="45720" rtlCol="0" anchor="t">
            <a:noAutofit/>
          </a:bodyPr>
          <a:lstStyle/>
          <a:p>
            <a:pPr algn="just"/>
            <a:r>
              <a:rPr lang="en-US" sz="2200">
                <a:ea typeface="+mj-lt"/>
                <a:cs typeface="+mj-lt"/>
              </a:rPr>
              <a:t>The increasing use of digital technology in education has transformed the way examinations are conducted and evaluated. Traditional evaluation methods are time-consuming and require significant manual effort.</a:t>
            </a:r>
            <a:endParaRPr lang="en-US" sz="2200"/>
          </a:p>
          <a:p>
            <a:pPr algn="just"/>
            <a:r>
              <a:rPr lang="en-US" sz="2200">
                <a:ea typeface="+mj-lt"/>
                <a:cs typeface="+mj-lt"/>
              </a:rPr>
              <a:t>The </a:t>
            </a:r>
            <a:r>
              <a:rPr lang="en-US" sz="2200" b="1">
                <a:ea typeface="+mj-lt"/>
                <a:cs typeface="+mj-lt"/>
              </a:rPr>
              <a:t>Automated Exam Sheet Grader</a:t>
            </a:r>
            <a:r>
              <a:rPr lang="en-US" sz="2200">
                <a:ea typeface="+mj-lt"/>
                <a:cs typeface="+mj-lt"/>
              </a:rPr>
              <a:t> is designed to simplify examination management and student evaluation. It enables teachers to manage examinations efficiently, while students can attend exams and access their results through a dedicated portal. The system also provides performance analysis, including grades and feedback.</a:t>
            </a:r>
            <a:endParaRPr lang="en-US" sz="2200"/>
          </a:p>
          <a:p>
            <a:pPr algn="just">
              <a:lnSpc>
                <a:spcPct val="90000"/>
              </a:lnSpc>
            </a:pPr>
            <a:r>
              <a:rPr lang="en-US" sz="2200">
                <a:ea typeface="+mj-lt"/>
                <a:cs typeface="+mj-lt"/>
              </a:rPr>
              <a:t>The main objective of this project is to reduce manual workload and provide faster, accurate, and reliable evaluation with an improved user experience.</a:t>
            </a:r>
            <a:endParaRPr lang="en-US" sz="2200"/>
          </a:p>
        </p:txBody>
      </p:sp>
      <p:sp>
        <p:nvSpPr>
          <p:cNvPr id="20" name="Rectangle 19">
            <a:extLst>
              <a:ext uri="{FF2B5EF4-FFF2-40B4-BE49-F238E27FC236}">
                <a16:creationId xmlns:a16="http://schemas.microsoft.com/office/drawing/2014/main" id="{7527E565-DE8D-445C-9879-AD1D04415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911484EE-3214-07B7-DDC6-35B1E48CE0BB}"/>
              </a:ext>
            </a:extLst>
          </p:cNvPr>
          <p:cNvSpPr>
            <a:spLocks noGrp="1"/>
          </p:cNvSpPr>
          <p:nvPr>
            <p:ph idx="1"/>
          </p:nvPr>
        </p:nvSpPr>
        <p:spPr>
          <a:xfrm>
            <a:off x="650668" y="2438400"/>
            <a:ext cx="4802031" cy="3809999"/>
          </a:xfrm>
        </p:spPr>
        <p:txBody>
          <a:bodyPr vert="horz" lIns="91440" tIns="45720" rIns="91440" bIns="45720" rtlCol="0">
            <a:normAutofit/>
          </a:bodyPr>
          <a:lstStyle/>
          <a:p>
            <a:pPr>
              <a:buNone/>
            </a:pPr>
            <a:endParaRPr lang="en-US">
              <a:latin typeface="Times New Roman"/>
              <a:ea typeface="+mj-lt"/>
              <a:cs typeface="Times New Roman"/>
            </a:endParaRPr>
          </a:p>
          <a:p>
            <a:pPr>
              <a:buNone/>
            </a:pPr>
            <a:endParaRPr lang="en-US">
              <a:latin typeface="Times New Roman"/>
              <a:ea typeface="+mj-lt"/>
              <a:cs typeface="Times New Roman"/>
            </a:endParaRPr>
          </a:p>
          <a:p>
            <a:pPr marL="0" indent="0">
              <a:buNone/>
            </a:pPr>
            <a:endParaRPr lang="en-US"/>
          </a:p>
        </p:txBody>
      </p:sp>
      <p:sp>
        <p:nvSpPr>
          <p:cNvPr id="5" name="TextBox 4">
            <a:extLst>
              <a:ext uri="{FF2B5EF4-FFF2-40B4-BE49-F238E27FC236}">
                <a16:creationId xmlns:a16="http://schemas.microsoft.com/office/drawing/2014/main" id="{DFA93715-BA5C-5584-3B81-4315764F63E5}"/>
              </a:ext>
            </a:extLst>
          </p:cNvPr>
          <p:cNvSpPr txBox="1"/>
          <p:nvPr/>
        </p:nvSpPr>
        <p:spPr>
          <a:xfrm>
            <a:off x="5128480" y="439828"/>
            <a:ext cx="565057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Century Gothic"/>
                <a:cs typeface="Times New Roman"/>
              </a:rPr>
              <a:t>  </a:t>
            </a:r>
            <a:r>
              <a:rPr lang="en-US" sz="3600">
                <a:latin typeface="Century Gothic"/>
                <a:cs typeface="Times New Roman"/>
              </a:rPr>
              <a:t> </a:t>
            </a:r>
            <a:r>
              <a:rPr lang="en-US" sz="4000">
                <a:latin typeface="Century Gothic"/>
                <a:cs typeface="Times New Roman"/>
              </a:rPr>
              <a:t> </a:t>
            </a:r>
            <a:r>
              <a:rPr lang="en-US" sz="4000" b="1"/>
              <a:t>INTRODUCTION</a:t>
            </a:r>
          </a:p>
        </p:txBody>
      </p:sp>
      <p:pic>
        <p:nvPicPr>
          <p:cNvPr id="6" name="Picture 5">
            <a:extLst>
              <a:ext uri="{FF2B5EF4-FFF2-40B4-BE49-F238E27FC236}">
                <a16:creationId xmlns:a16="http://schemas.microsoft.com/office/drawing/2014/main" id="{ED9080B8-4E65-6CEE-E4D7-771AD34F4F3E}"/>
              </a:ext>
            </a:extLst>
          </p:cNvPr>
          <p:cNvPicPr>
            <a:picLocks noChangeAspect="1"/>
          </p:cNvPicPr>
          <p:nvPr/>
        </p:nvPicPr>
        <p:blipFill>
          <a:blip r:embed="rId3"/>
          <a:stretch>
            <a:fillRect/>
          </a:stretch>
        </p:blipFill>
        <p:spPr>
          <a:xfrm>
            <a:off x="321646" y="1120912"/>
            <a:ext cx="4390423" cy="5129394"/>
          </a:xfrm>
          <a:prstGeom prst="rect">
            <a:avLst/>
          </a:prstGeom>
        </p:spPr>
      </p:pic>
    </p:spTree>
    <p:extLst>
      <p:ext uri="{BB962C8B-B14F-4D97-AF65-F5344CB8AC3E}">
        <p14:creationId xmlns:p14="http://schemas.microsoft.com/office/powerpoint/2010/main" val="213545994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A3FDB-BC63-7448-AEC4-7D50481972DE}"/>
              </a:ext>
            </a:extLst>
          </p:cNvPr>
          <p:cNvSpPr>
            <a:spLocks noGrp="1"/>
          </p:cNvSpPr>
          <p:nvPr>
            <p:ph type="title"/>
          </p:nvPr>
        </p:nvSpPr>
        <p:spPr>
          <a:xfrm>
            <a:off x="3440110" y="271289"/>
            <a:ext cx="5435066" cy="798188"/>
          </a:xfrm>
        </p:spPr>
        <p:txBody>
          <a:bodyPr/>
          <a:lstStyle/>
          <a:p>
            <a:pPr algn="ctr"/>
            <a:r>
              <a:rPr lang="en-US" sz="4000" b="1"/>
              <a:t>LITERATURE SURVEY</a:t>
            </a:r>
            <a:endParaRPr lang="en-US" b="1"/>
          </a:p>
        </p:txBody>
      </p:sp>
      <p:graphicFrame>
        <p:nvGraphicFramePr>
          <p:cNvPr id="4" name="Table 3">
            <a:extLst>
              <a:ext uri="{FF2B5EF4-FFF2-40B4-BE49-F238E27FC236}">
                <a16:creationId xmlns:a16="http://schemas.microsoft.com/office/drawing/2014/main" id="{8A9735B9-398F-9A97-265A-0EAC42D1C61F}"/>
              </a:ext>
            </a:extLst>
          </p:cNvPr>
          <p:cNvGraphicFramePr>
            <a:graphicFrameLocks noGrp="1"/>
          </p:cNvGraphicFramePr>
          <p:nvPr>
            <p:extLst>
              <p:ext uri="{D42A27DB-BD31-4B8C-83A1-F6EECF244321}">
                <p14:modId xmlns:p14="http://schemas.microsoft.com/office/powerpoint/2010/main" val="1095047540"/>
              </p:ext>
            </p:extLst>
          </p:nvPr>
        </p:nvGraphicFramePr>
        <p:xfrm>
          <a:off x="304800" y="1299028"/>
          <a:ext cx="11712071" cy="5063239"/>
        </p:xfrm>
        <a:graphic>
          <a:graphicData uri="http://schemas.openxmlformats.org/drawingml/2006/table">
            <a:tbl>
              <a:tblPr firstRow="1" bandRow="1">
                <a:tableStyleId>{5C22544A-7EE6-4342-B048-85BDC9FD1C3A}</a:tableStyleId>
              </a:tblPr>
              <a:tblGrid>
                <a:gridCol w="3486873">
                  <a:extLst>
                    <a:ext uri="{9D8B030D-6E8A-4147-A177-3AD203B41FA5}">
                      <a16:colId xmlns:a16="http://schemas.microsoft.com/office/drawing/2014/main" val="2083323338"/>
                    </a:ext>
                  </a:extLst>
                </a:gridCol>
                <a:gridCol w="4321174">
                  <a:extLst>
                    <a:ext uri="{9D8B030D-6E8A-4147-A177-3AD203B41FA5}">
                      <a16:colId xmlns:a16="http://schemas.microsoft.com/office/drawing/2014/main" val="3388843162"/>
                    </a:ext>
                  </a:extLst>
                </a:gridCol>
                <a:gridCol w="3904024">
                  <a:extLst>
                    <a:ext uri="{9D8B030D-6E8A-4147-A177-3AD203B41FA5}">
                      <a16:colId xmlns:a16="http://schemas.microsoft.com/office/drawing/2014/main" val="2691837654"/>
                    </a:ext>
                  </a:extLst>
                </a:gridCol>
              </a:tblGrid>
              <a:tr h="478537">
                <a:tc>
                  <a:txBody>
                    <a:bodyPr/>
                    <a:lstStyle/>
                    <a:p>
                      <a:pPr lvl="0" algn="ctr">
                        <a:buNone/>
                      </a:pPr>
                      <a:r>
                        <a:rPr lang="en-US" sz="1800" b="0" i="0" u="none" strike="noStrike" noProof="0">
                          <a:solidFill>
                            <a:schemeClr val="bg1"/>
                          </a:solidFill>
                          <a:latin typeface="Century Gothic"/>
                        </a:rPr>
                        <a:t>Author / Year</a:t>
                      </a:r>
                      <a:endParaRPr lang="en-US">
                        <a:solidFill>
                          <a:schemeClr val="bg1"/>
                        </a:solidFill>
                      </a:endParaRPr>
                    </a:p>
                  </a:txBody>
                  <a:tcPr>
                    <a:solidFill>
                      <a:schemeClr val="bg2">
                        <a:lumMod val="40000"/>
                        <a:lumOff val="60000"/>
                      </a:schemeClr>
                    </a:solidFill>
                  </a:tcPr>
                </a:tc>
                <a:tc>
                  <a:txBody>
                    <a:bodyPr/>
                    <a:lstStyle/>
                    <a:p>
                      <a:pPr lvl="0" algn="ctr">
                        <a:buNone/>
                      </a:pPr>
                      <a:r>
                        <a:rPr lang="en-US" sz="1800" b="0" i="0" u="none" strike="noStrike" noProof="0">
                          <a:solidFill>
                            <a:schemeClr val="bg1"/>
                          </a:solidFill>
                          <a:latin typeface="Century Gothic"/>
                        </a:rPr>
                        <a:t>Highlights</a:t>
                      </a:r>
                      <a:endParaRPr lang="en-US">
                        <a:solidFill>
                          <a:schemeClr val="bg1"/>
                        </a:solidFill>
                      </a:endParaRPr>
                    </a:p>
                  </a:txBody>
                  <a:tcPr>
                    <a:solidFill>
                      <a:schemeClr val="bg2">
                        <a:lumMod val="40000"/>
                        <a:lumOff val="60000"/>
                      </a:schemeClr>
                    </a:solidFill>
                  </a:tcPr>
                </a:tc>
                <a:tc>
                  <a:txBody>
                    <a:bodyPr/>
                    <a:lstStyle/>
                    <a:p>
                      <a:pPr lvl="0" algn="ctr">
                        <a:buNone/>
                      </a:pPr>
                      <a:r>
                        <a:rPr lang="en-US" sz="1800" b="0" i="0" u="none" strike="noStrike" noProof="0">
                          <a:solidFill>
                            <a:schemeClr val="bg1"/>
                          </a:solidFill>
                          <a:latin typeface="Century Gothic"/>
                        </a:rPr>
                        <a:t>Source</a:t>
                      </a:r>
                      <a:endParaRPr lang="en-US">
                        <a:solidFill>
                          <a:schemeClr val="bg1"/>
                        </a:solidFill>
                      </a:endParaRPr>
                    </a:p>
                  </a:txBody>
                  <a:tcPr>
                    <a:solidFill>
                      <a:schemeClr val="bg2">
                        <a:lumMod val="40000"/>
                        <a:lumOff val="60000"/>
                      </a:schemeClr>
                    </a:solidFill>
                  </a:tcPr>
                </a:tc>
                <a:extLst>
                  <a:ext uri="{0D108BD9-81ED-4DB2-BD59-A6C34878D82A}">
                    <a16:rowId xmlns:a16="http://schemas.microsoft.com/office/drawing/2014/main" val="1178337088"/>
                  </a:ext>
                </a:extLst>
              </a:tr>
              <a:tr h="2439002">
                <a:tc>
                  <a:txBody>
                    <a:bodyPr/>
                    <a:lstStyle/>
                    <a:p>
                      <a:pPr lvl="0">
                        <a:buNone/>
                      </a:pPr>
                      <a:r>
                        <a:rPr lang="en-US" sz="1800" b="0" i="0" u="none" strike="noStrike" noProof="0"/>
                        <a:t>Samuel Tobler et al. (2024)</a:t>
                      </a:r>
                      <a:endParaRPr lang="en-US"/>
                    </a:p>
                  </a:txBody>
                  <a:tcPr>
                    <a:solidFill>
                      <a:schemeClr val="accent4">
                        <a:lumMod val="20000"/>
                        <a:lumOff val="80000"/>
                      </a:schemeClr>
                    </a:solidFill>
                  </a:tcPr>
                </a:tc>
                <a:tc>
                  <a:txBody>
                    <a:bodyPr/>
                    <a:lstStyle/>
                    <a:p>
                      <a:pPr lvl="0" algn="just">
                        <a:lnSpc>
                          <a:spcPct val="100000"/>
                        </a:lnSpc>
                        <a:spcBef>
                          <a:spcPts val="0"/>
                        </a:spcBef>
                        <a:spcAft>
                          <a:spcPts val="0"/>
                        </a:spcAft>
                        <a:buNone/>
                      </a:pPr>
                      <a:r>
                        <a:rPr lang="en-US" sz="1800" b="0" i="0" u="none" strike="noStrike" noProof="0"/>
                        <a:t>Developed a Generative AI-based grading system that evaluates student answers using sample solutions and grading instructions. It automatically assigns scores and generates feedback, reducing manual evaluation effort.</a:t>
                      </a:r>
                      <a:endParaRPr lang="en-US"/>
                    </a:p>
                    <a:p>
                      <a:pPr lvl="0" algn="just">
                        <a:buNone/>
                      </a:pPr>
                      <a:endParaRPr lang="en-US"/>
                    </a:p>
                  </a:txBody>
                  <a:tcPr>
                    <a:solidFill>
                      <a:schemeClr val="accent4">
                        <a:lumMod val="20000"/>
                        <a:lumOff val="80000"/>
                      </a:schemeClr>
                    </a:solidFill>
                  </a:tcPr>
                </a:tc>
                <a:tc>
                  <a:txBody>
                    <a:bodyPr/>
                    <a:lstStyle/>
                    <a:p>
                      <a:pPr lvl="0" algn="just">
                        <a:buNone/>
                      </a:pPr>
                      <a:r>
                        <a:rPr lang="en-US" sz="1800" b="0" i="0" u="none" strike="noStrike" noProof="0"/>
                        <a:t>Smart Grading: A Generative AI-Based Tool for Knowledge-Grounded Answer Evaluation in Educational Assessments</a:t>
                      </a:r>
                      <a:endParaRPr lang="en-US"/>
                    </a:p>
                  </a:txBody>
                  <a:tcPr>
                    <a:solidFill>
                      <a:schemeClr val="accent4">
                        <a:lumMod val="20000"/>
                        <a:lumOff val="80000"/>
                      </a:schemeClr>
                    </a:solidFill>
                  </a:tcPr>
                </a:tc>
                <a:extLst>
                  <a:ext uri="{0D108BD9-81ED-4DB2-BD59-A6C34878D82A}">
                    <a16:rowId xmlns:a16="http://schemas.microsoft.com/office/drawing/2014/main" val="1036689078"/>
                  </a:ext>
                </a:extLst>
              </a:tr>
              <a:tr h="2145700">
                <a:tc>
                  <a:txBody>
                    <a:bodyPr/>
                    <a:lstStyle/>
                    <a:p>
                      <a:pPr lvl="0">
                        <a:buNone/>
                      </a:pPr>
                      <a:r>
                        <a:rPr lang="en-US" sz="1800" b="0" i="0" u="none" strike="noStrike" noProof="0"/>
                        <a:t>Kamalpreet Kaur et al. (2024)</a:t>
                      </a:r>
                      <a:endParaRPr lang="en-US"/>
                    </a:p>
                  </a:txBody>
                  <a:tcPr>
                    <a:solidFill>
                      <a:schemeClr val="accent4">
                        <a:lumMod val="20000"/>
                        <a:lumOff val="80000"/>
                      </a:schemeClr>
                    </a:solidFill>
                  </a:tcPr>
                </a:tc>
                <a:tc>
                  <a:txBody>
                    <a:bodyPr/>
                    <a:lstStyle/>
                    <a:p>
                      <a:pPr lvl="0" algn="just">
                        <a:buNone/>
                      </a:pPr>
                      <a:r>
                        <a:rPr lang="en-US" sz="1800" b="0" i="0" u="none" strike="noStrike" noProof="0"/>
                        <a:t>Proposed an automated subjective answer evaluation system where the system scores answers based on semantic similarity and provides accurate grading.</a:t>
                      </a:r>
                      <a:endParaRPr lang="en-US"/>
                    </a:p>
                  </a:txBody>
                  <a:tcPr>
                    <a:solidFill>
                      <a:schemeClr val="accent4">
                        <a:lumMod val="20000"/>
                        <a:lumOff val="80000"/>
                      </a:schemeClr>
                    </a:solidFill>
                  </a:tcPr>
                </a:tc>
                <a:tc>
                  <a:txBody>
                    <a:bodyPr/>
                    <a:lstStyle/>
                    <a:p>
                      <a:pPr lvl="0" algn="just">
                        <a:buNone/>
                      </a:pPr>
                      <a:r>
                        <a:rPr lang="en-US" sz="1800" b="0" i="0" u="none" strike="noStrike" noProof="0"/>
                        <a:t>Expert Systems with Applications</a:t>
                      </a:r>
                      <a:endParaRPr lang="en-US"/>
                    </a:p>
                  </a:txBody>
                  <a:tcPr>
                    <a:solidFill>
                      <a:schemeClr val="accent4">
                        <a:lumMod val="20000"/>
                        <a:lumOff val="80000"/>
                      </a:schemeClr>
                    </a:solidFill>
                  </a:tcPr>
                </a:tc>
                <a:extLst>
                  <a:ext uri="{0D108BD9-81ED-4DB2-BD59-A6C34878D82A}">
                    <a16:rowId xmlns:a16="http://schemas.microsoft.com/office/drawing/2014/main" val="2698692574"/>
                  </a:ext>
                </a:extLst>
              </a:tr>
            </a:tbl>
          </a:graphicData>
        </a:graphic>
      </p:graphicFrame>
    </p:spTree>
    <p:extLst>
      <p:ext uri="{BB962C8B-B14F-4D97-AF65-F5344CB8AC3E}">
        <p14:creationId xmlns:p14="http://schemas.microsoft.com/office/powerpoint/2010/main" val="407435278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9E6C0-1083-A863-E75D-8F790FB1E6AF}"/>
              </a:ext>
            </a:extLst>
          </p:cNvPr>
          <p:cNvSpPr>
            <a:spLocks noGrp="1"/>
          </p:cNvSpPr>
          <p:nvPr>
            <p:ph type="title"/>
          </p:nvPr>
        </p:nvSpPr>
        <p:spPr>
          <a:xfrm>
            <a:off x="2917597" y="409175"/>
            <a:ext cx="9404723" cy="848988"/>
          </a:xfrm>
        </p:spPr>
        <p:txBody>
          <a:bodyPr/>
          <a:lstStyle/>
          <a:p>
            <a:r>
              <a:rPr lang="en-US" sz="4000" b="1"/>
              <a:t>DOMAIN KNOWLEDGE</a:t>
            </a:r>
          </a:p>
        </p:txBody>
      </p:sp>
      <p:sp>
        <p:nvSpPr>
          <p:cNvPr id="5" name="Rectangle: Rounded Corners 4">
            <a:extLst>
              <a:ext uri="{FF2B5EF4-FFF2-40B4-BE49-F238E27FC236}">
                <a16:creationId xmlns:a16="http://schemas.microsoft.com/office/drawing/2014/main" id="{53308B62-CF6D-587C-0562-1B59264F3B36}"/>
              </a:ext>
            </a:extLst>
          </p:cNvPr>
          <p:cNvSpPr/>
          <p:nvPr/>
        </p:nvSpPr>
        <p:spPr>
          <a:xfrm>
            <a:off x="6097889" y="1514730"/>
            <a:ext cx="4796970" cy="4615542"/>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b="1">
                <a:solidFill>
                  <a:schemeClr val="bg1"/>
                </a:solidFill>
              </a:rPr>
              <a:t>Frontend</a:t>
            </a:r>
            <a:endParaRPr lang="en-US" sz="3600">
              <a:solidFill>
                <a:schemeClr val="bg1"/>
              </a:solidFill>
            </a:endParaRPr>
          </a:p>
          <a:p>
            <a:pPr algn="ctr"/>
            <a:endParaRPr lang="en-US" sz="3200" b="1">
              <a:solidFill>
                <a:srgbClr val="000000"/>
              </a:solidFill>
            </a:endParaRPr>
          </a:p>
          <a:p>
            <a:pPr marL="285750" indent="-285750">
              <a:buFont typeface="Arial"/>
              <a:buChar char="•"/>
            </a:pPr>
            <a:r>
              <a:rPr lang="en-US" sz="2500">
                <a:solidFill>
                  <a:schemeClr val="bg2">
                    <a:lumMod val="76000"/>
                  </a:schemeClr>
                </a:solidFill>
              </a:rPr>
              <a:t>HTML</a:t>
            </a:r>
          </a:p>
          <a:p>
            <a:pPr marL="285750" indent="-285750">
              <a:buFont typeface="Arial"/>
              <a:buChar char="•"/>
            </a:pPr>
            <a:r>
              <a:rPr lang="en-US" sz="2500">
                <a:solidFill>
                  <a:schemeClr val="bg2">
                    <a:lumMod val="76000"/>
                  </a:schemeClr>
                </a:solidFill>
              </a:rPr>
              <a:t>CSS</a:t>
            </a:r>
          </a:p>
          <a:p>
            <a:pPr marL="285750" indent="-285750">
              <a:buFont typeface="Arial"/>
              <a:buChar char="•"/>
            </a:pPr>
            <a:r>
              <a:rPr lang="en-US" sz="2500">
                <a:solidFill>
                  <a:schemeClr val="bg2">
                    <a:lumMod val="76000"/>
                  </a:schemeClr>
                </a:solidFill>
              </a:rPr>
              <a:t>React</a:t>
            </a:r>
          </a:p>
          <a:p>
            <a:pPr marL="285750" indent="-285750">
              <a:buFont typeface="Arial"/>
              <a:buChar char="•"/>
            </a:pPr>
            <a:r>
              <a:rPr lang="en-US" sz="2500">
                <a:solidFill>
                  <a:schemeClr val="bg2">
                    <a:lumMod val="76000"/>
                  </a:schemeClr>
                </a:solidFill>
                <a:ea typeface="+mn-lt"/>
                <a:cs typeface="+mn-lt"/>
              </a:rPr>
              <a:t>Tailwind CSS + </a:t>
            </a:r>
            <a:r>
              <a:rPr lang="en-US" sz="2500" err="1">
                <a:solidFill>
                  <a:schemeClr val="bg2">
                    <a:lumMod val="76000"/>
                  </a:schemeClr>
                </a:solidFill>
                <a:ea typeface="+mn-lt"/>
                <a:cs typeface="+mn-lt"/>
              </a:rPr>
              <a:t>shadcn</a:t>
            </a:r>
            <a:r>
              <a:rPr lang="en-US" sz="2500">
                <a:solidFill>
                  <a:schemeClr val="bg2">
                    <a:lumMod val="76000"/>
                  </a:schemeClr>
                </a:solidFill>
                <a:ea typeface="+mn-lt"/>
                <a:cs typeface="+mn-lt"/>
              </a:rPr>
              <a:t>/</a:t>
            </a:r>
            <a:r>
              <a:rPr lang="en-US" sz="2500" err="1">
                <a:solidFill>
                  <a:schemeClr val="bg2">
                    <a:lumMod val="76000"/>
                  </a:schemeClr>
                </a:solidFill>
                <a:ea typeface="+mn-lt"/>
                <a:cs typeface="+mn-lt"/>
              </a:rPr>
              <a:t>ui</a:t>
            </a:r>
            <a:endParaRPr lang="en-US" sz="2600" err="1">
              <a:solidFill>
                <a:schemeClr val="bg2">
                  <a:lumMod val="76000"/>
                </a:schemeClr>
              </a:solidFill>
            </a:endParaRPr>
          </a:p>
        </p:txBody>
      </p:sp>
      <p:sp>
        <p:nvSpPr>
          <p:cNvPr id="7" name="Rectangle: Rounded Corners 6">
            <a:extLst>
              <a:ext uri="{FF2B5EF4-FFF2-40B4-BE49-F238E27FC236}">
                <a16:creationId xmlns:a16="http://schemas.microsoft.com/office/drawing/2014/main" id="{55FAD0B5-1C90-BA6B-46E4-654FB3FB4469}"/>
              </a:ext>
            </a:extLst>
          </p:cNvPr>
          <p:cNvSpPr/>
          <p:nvPr/>
        </p:nvSpPr>
        <p:spPr>
          <a:xfrm>
            <a:off x="684062" y="1514731"/>
            <a:ext cx="4855027" cy="4724399"/>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600" b="1">
                <a:solidFill>
                  <a:schemeClr val="bg1"/>
                </a:solidFill>
              </a:rPr>
              <a:t>Backend</a:t>
            </a:r>
          </a:p>
          <a:p>
            <a:pPr algn="ctr"/>
            <a:endParaRPr lang="en-US" sz="3600" b="1">
              <a:solidFill>
                <a:schemeClr val="bg1"/>
              </a:solidFill>
            </a:endParaRPr>
          </a:p>
          <a:p>
            <a:pPr marL="285750" indent="-285750">
              <a:buFont typeface="Arial,Sans-Serif"/>
              <a:buChar char="•"/>
            </a:pPr>
            <a:r>
              <a:rPr lang="en-US" sz="2600" err="1">
                <a:solidFill>
                  <a:schemeClr val="bg2">
                    <a:lumMod val="76000"/>
                  </a:schemeClr>
                </a:solidFill>
              </a:rPr>
              <a:t>SpringBoot</a:t>
            </a:r>
            <a:r>
              <a:rPr lang="en-US" sz="2600">
                <a:solidFill>
                  <a:schemeClr val="bg2">
                    <a:lumMod val="76000"/>
                  </a:schemeClr>
                </a:solidFill>
              </a:rPr>
              <a:t> </a:t>
            </a:r>
          </a:p>
          <a:p>
            <a:pPr marL="285750" indent="-285750">
              <a:buFont typeface="Arial,Sans-Serif"/>
              <a:buChar char="•"/>
            </a:pPr>
            <a:r>
              <a:rPr lang="en-US" sz="2600">
                <a:solidFill>
                  <a:schemeClr val="bg2">
                    <a:lumMod val="76000"/>
                  </a:schemeClr>
                </a:solidFill>
              </a:rPr>
              <a:t>MongoDB</a:t>
            </a:r>
          </a:p>
          <a:p>
            <a:pPr marL="285750" indent="-285750">
              <a:buFont typeface="Arial,Sans-Serif"/>
              <a:buChar char="•"/>
            </a:pPr>
            <a:r>
              <a:rPr lang="en-US" sz="2600">
                <a:solidFill>
                  <a:schemeClr val="bg2">
                    <a:lumMod val="76000"/>
                  </a:schemeClr>
                </a:solidFill>
              </a:rPr>
              <a:t>JWT</a:t>
            </a:r>
          </a:p>
          <a:p>
            <a:pPr marL="285750" indent="-285750">
              <a:buFont typeface="Arial,Sans-Serif"/>
              <a:buChar char="•"/>
            </a:pPr>
            <a:r>
              <a:rPr lang="en-US" sz="2600" err="1">
                <a:solidFill>
                  <a:schemeClr val="bg2">
                    <a:lumMod val="76000"/>
                  </a:schemeClr>
                </a:solidFill>
              </a:rPr>
              <a:t>FastAPI</a:t>
            </a:r>
            <a:r>
              <a:rPr lang="en-US" sz="2600">
                <a:solidFill>
                  <a:schemeClr val="bg2">
                    <a:lumMod val="76000"/>
                  </a:schemeClr>
                </a:solidFill>
              </a:rPr>
              <a:t> </a:t>
            </a:r>
          </a:p>
          <a:p>
            <a:pPr marL="285750" indent="-285750">
              <a:buFont typeface="Arial,Sans-Serif"/>
              <a:buChar char="•"/>
            </a:pPr>
            <a:r>
              <a:rPr lang="en-US" sz="2600">
                <a:solidFill>
                  <a:schemeClr val="bg2">
                    <a:lumMod val="76000"/>
                  </a:schemeClr>
                </a:solidFill>
              </a:rPr>
              <a:t>AI Integration</a:t>
            </a:r>
          </a:p>
        </p:txBody>
      </p:sp>
    </p:spTree>
    <p:extLst>
      <p:ext uri="{BB962C8B-B14F-4D97-AF65-F5344CB8AC3E}">
        <p14:creationId xmlns:p14="http://schemas.microsoft.com/office/powerpoint/2010/main" val="15574639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F7068-9D8E-F64E-92DD-7F0AE1939D0B}"/>
              </a:ext>
            </a:extLst>
          </p:cNvPr>
          <p:cNvSpPr>
            <a:spLocks noGrp="1"/>
          </p:cNvSpPr>
          <p:nvPr>
            <p:ph type="title"/>
          </p:nvPr>
        </p:nvSpPr>
        <p:spPr>
          <a:xfrm>
            <a:off x="1400854" y="97118"/>
            <a:ext cx="9404723" cy="1400530"/>
          </a:xfrm>
        </p:spPr>
        <p:txBody>
          <a:bodyPr/>
          <a:lstStyle/>
          <a:p>
            <a:pPr algn="ctr"/>
            <a:r>
              <a:rPr lang="en-US" sz="4000" b="1"/>
              <a:t>MODULES</a:t>
            </a:r>
            <a:endParaRPr lang="en-US"/>
          </a:p>
        </p:txBody>
      </p:sp>
      <p:sp>
        <p:nvSpPr>
          <p:cNvPr id="4" name="Rectangle: Rounded Corners 3">
            <a:extLst>
              <a:ext uri="{FF2B5EF4-FFF2-40B4-BE49-F238E27FC236}">
                <a16:creationId xmlns:a16="http://schemas.microsoft.com/office/drawing/2014/main" id="{1BC87275-B83B-C6A1-3ECA-72950AE91C40}"/>
              </a:ext>
            </a:extLst>
          </p:cNvPr>
          <p:cNvSpPr/>
          <p:nvPr/>
        </p:nvSpPr>
        <p:spPr>
          <a:xfrm>
            <a:off x="433137" y="1091849"/>
            <a:ext cx="3605171" cy="2446922"/>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Authentication &amp; Authorization</a:t>
            </a:r>
          </a:p>
          <a:p>
            <a:pPr algn="ctr"/>
            <a:endParaRPr lang="en-US" b="1">
              <a:solidFill>
                <a:schemeClr val="bg1"/>
              </a:solidFill>
            </a:endParaRPr>
          </a:p>
          <a:p>
            <a:pPr algn="ctr"/>
            <a:r>
              <a:rPr lang="en-US">
                <a:solidFill>
                  <a:schemeClr val="bg1"/>
                </a:solidFill>
                <a:ea typeface="+mn-lt"/>
                <a:cs typeface="+mn-lt"/>
              </a:rPr>
              <a:t>Secure login and role-based access for teachers and students.</a:t>
            </a:r>
            <a:endParaRPr lang="en-US"/>
          </a:p>
        </p:txBody>
      </p:sp>
      <p:sp>
        <p:nvSpPr>
          <p:cNvPr id="5" name="Rectangle: Rounded Corners 4">
            <a:extLst>
              <a:ext uri="{FF2B5EF4-FFF2-40B4-BE49-F238E27FC236}">
                <a16:creationId xmlns:a16="http://schemas.microsoft.com/office/drawing/2014/main" id="{FA6CA676-1AF2-0547-066C-3D8844E1AC7B}"/>
              </a:ext>
            </a:extLst>
          </p:cNvPr>
          <p:cNvSpPr/>
          <p:nvPr/>
        </p:nvSpPr>
        <p:spPr>
          <a:xfrm>
            <a:off x="4308451" y="1091848"/>
            <a:ext cx="3576141" cy="2432408"/>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ea typeface="+mn-lt"/>
                <a:cs typeface="+mn-lt"/>
              </a:rPr>
              <a:t>Exam &amp; Question Management</a:t>
            </a:r>
          </a:p>
          <a:p>
            <a:pPr algn="ctr"/>
            <a:endParaRPr lang="en-US" b="1">
              <a:solidFill>
                <a:schemeClr val="bg1"/>
              </a:solidFill>
            </a:endParaRPr>
          </a:p>
          <a:p>
            <a:pPr algn="ctr"/>
            <a:r>
              <a:rPr lang="en-US">
                <a:solidFill>
                  <a:schemeClr val="bg1"/>
                </a:solidFill>
                <a:ea typeface="+mn-lt"/>
                <a:cs typeface="+mn-lt"/>
              </a:rPr>
              <a:t>Teachers create, manage, and schedule exams with questions.</a:t>
            </a:r>
          </a:p>
        </p:txBody>
      </p:sp>
      <p:sp>
        <p:nvSpPr>
          <p:cNvPr id="6" name="Rectangle: Rounded Corners 5">
            <a:extLst>
              <a:ext uri="{FF2B5EF4-FFF2-40B4-BE49-F238E27FC236}">
                <a16:creationId xmlns:a16="http://schemas.microsoft.com/office/drawing/2014/main" id="{14188873-028B-8DA2-B3B9-6A7D79A52F57}"/>
              </a:ext>
            </a:extLst>
          </p:cNvPr>
          <p:cNvSpPr/>
          <p:nvPr/>
        </p:nvSpPr>
        <p:spPr>
          <a:xfrm>
            <a:off x="8169250" y="1091846"/>
            <a:ext cx="3409228" cy="2446922"/>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ea typeface="+mn-lt"/>
                <a:cs typeface="+mn-lt"/>
              </a:rPr>
              <a:t>Student Examination Module</a:t>
            </a:r>
            <a:endParaRPr lang="en-US" b="1">
              <a:solidFill>
                <a:schemeClr val="bg1"/>
              </a:solidFill>
            </a:endParaRPr>
          </a:p>
          <a:p>
            <a:pPr algn="ctr"/>
            <a:endParaRPr lang="en-US" b="1">
              <a:solidFill>
                <a:schemeClr val="bg1"/>
              </a:solidFill>
            </a:endParaRPr>
          </a:p>
          <a:p>
            <a:pPr algn="ctr"/>
            <a:r>
              <a:rPr lang="en-US">
                <a:solidFill>
                  <a:schemeClr val="bg1"/>
                </a:solidFill>
                <a:ea typeface="+mn-lt"/>
                <a:cs typeface="+mn-lt"/>
              </a:rPr>
              <a:t>Students attempt exams and submit answers.</a:t>
            </a:r>
            <a:endParaRPr lang="en-US">
              <a:solidFill>
                <a:schemeClr val="bg1"/>
              </a:solidFill>
            </a:endParaRPr>
          </a:p>
        </p:txBody>
      </p:sp>
      <p:sp>
        <p:nvSpPr>
          <p:cNvPr id="7" name="Rectangle: Rounded Corners 6">
            <a:extLst>
              <a:ext uri="{FF2B5EF4-FFF2-40B4-BE49-F238E27FC236}">
                <a16:creationId xmlns:a16="http://schemas.microsoft.com/office/drawing/2014/main" id="{1254B91F-5380-E77B-DC1D-C4DF94AB99E6}"/>
              </a:ext>
            </a:extLst>
          </p:cNvPr>
          <p:cNvSpPr/>
          <p:nvPr/>
        </p:nvSpPr>
        <p:spPr>
          <a:xfrm>
            <a:off x="433135" y="3885847"/>
            <a:ext cx="3605171" cy="2432408"/>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ea typeface="+mn-lt"/>
                <a:cs typeface="+mn-lt"/>
              </a:rPr>
              <a:t>Teacher Evaluation Module</a:t>
            </a:r>
            <a:endParaRPr lang="en-US" b="1">
              <a:solidFill>
                <a:schemeClr val="bg1"/>
              </a:solidFill>
            </a:endParaRPr>
          </a:p>
          <a:p>
            <a:pPr algn="ctr"/>
            <a:endParaRPr lang="en-US" b="1">
              <a:solidFill>
                <a:schemeClr val="bg1"/>
              </a:solidFill>
            </a:endParaRPr>
          </a:p>
          <a:p>
            <a:pPr algn="ctr"/>
            <a:r>
              <a:rPr lang="en-US">
                <a:solidFill>
                  <a:schemeClr val="bg1"/>
                </a:solidFill>
                <a:ea typeface="+mn-lt"/>
                <a:cs typeface="+mn-lt"/>
              </a:rPr>
              <a:t>Teachers review AI results and manually re-evaluate answers if needed.</a:t>
            </a:r>
          </a:p>
        </p:txBody>
      </p:sp>
      <p:sp>
        <p:nvSpPr>
          <p:cNvPr id="8" name="Rectangle: Rounded Corners 7">
            <a:extLst>
              <a:ext uri="{FF2B5EF4-FFF2-40B4-BE49-F238E27FC236}">
                <a16:creationId xmlns:a16="http://schemas.microsoft.com/office/drawing/2014/main" id="{120A675B-55FC-7648-4116-674D4623990C}"/>
              </a:ext>
            </a:extLst>
          </p:cNvPr>
          <p:cNvSpPr/>
          <p:nvPr/>
        </p:nvSpPr>
        <p:spPr>
          <a:xfrm>
            <a:off x="4286679" y="3885848"/>
            <a:ext cx="3597913" cy="2432408"/>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ea typeface="+mn-lt"/>
                <a:cs typeface="+mn-lt"/>
              </a:rPr>
              <a:t>AI Intelligent Evaluation &amp; Result Management</a:t>
            </a:r>
          </a:p>
          <a:p>
            <a:pPr algn="ctr"/>
            <a:endParaRPr lang="en-US" b="1">
              <a:solidFill>
                <a:schemeClr val="bg1"/>
              </a:solidFill>
            </a:endParaRPr>
          </a:p>
          <a:p>
            <a:pPr algn="ctr"/>
            <a:r>
              <a:rPr lang="en-US">
                <a:solidFill>
                  <a:schemeClr val="bg1"/>
                </a:solidFill>
                <a:ea typeface="+mn-lt"/>
                <a:cs typeface="+mn-lt"/>
              </a:rPr>
              <a:t>AI evaluates answers, generates feedback, and provides performance analytics.</a:t>
            </a:r>
          </a:p>
        </p:txBody>
      </p:sp>
      <p:sp>
        <p:nvSpPr>
          <p:cNvPr id="9" name="Rectangle: Rounded Corners 8">
            <a:extLst>
              <a:ext uri="{FF2B5EF4-FFF2-40B4-BE49-F238E27FC236}">
                <a16:creationId xmlns:a16="http://schemas.microsoft.com/office/drawing/2014/main" id="{88D344FF-5045-2755-49FA-6C3BB50F3FA8}"/>
              </a:ext>
            </a:extLst>
          </p:cNvPr>
          <p:cNvSpPr/>
          <p:nvPr/>
        </p:nvSpPr>
        <p:spPr>
          <a:xfrm>
            <a:off x="8176506" y="3885848"/>
            <a:ext cx="3401971" cy="2396122"/>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chemeClr val="bg1"/>
                </a:solidFill>
                <a:ea typeface="+mn-lt"/>
                <a:cs typeface="+mn-lt"/>
              </a:rPr>
              <a:t>Database Module</a:t>
            </a:r>
            <a:endParaRPr lang="en-US" b="1">
              <a:solidFill>
                <a:schemeClr val="bg1"/>
              </a:solidFill>
            </a:endParaRPr>
          </a:p>
          <a:p>
            <a:pPr algn="ctr"/>
            <a:endParaRPr lang="en-US" b="1">
              <a:solidFill>
                <a:schemeClr val="bg1"/>
              </a:solidFill>
            </a:endParaRPr>
          </a:p>
          <a:p>
            <a:pPr algn="ctr"/>
            <a:r>
              <a:rPr lang="en-US">
                <a:solidFill>
                  <a:schemeClr val="bg1"/>
                </a:solidFill>
                <a:ea typeface="+mn-lt"/>
                <a:cs typeface="+mn-lt"/>
              </a:rPr>
              <a:t>Stores users, exams, questions, attempts, results, and analytics securely.</a:t>
            </a:r>
          </a:p>
        </p:txBody>
      </p:sp>
    </p:spTree>
    <p:extLst>
      <p:ext uri="{BB962C8B-B14F-4D97-AF65-F5344CB8AC3E}">
        <p14:creationId xmlns:p14="http://schemas.microsoft.com/office/powerpoint/2010/main" val="3051268275"/>
      </p:ext>
    </p:extLst>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9DC3D-C4B5-4060-8F8D-E0A1189C8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11814-5E60-7AE5-9EC9-FC798EE0B9EF}"/>
              </a:ext>
            </a:extLst>
          </p:cNvPr>
          <p:cNvSpPr>
            <a:spLocks noGrp="1"/>
          </p:cNvSpPr>
          <p:nvPr>
            <p:ph type="title"/>
          </p:nvPr>
        </p:nvSpPr>
        <p:spPr>
          <a:xfrm>
            <a:off x="1393597" y="2775"/>
            <a:ext cx="9404723" cy="1400530"/>
          </a:xfrm>
        </p:spPr>
        <p:txBody>
          <a:bodyPr/>
          <a:lstStyle/>
          <a:p>
            <a:pPr algn="ctr"/>
            <a:r>
              <a:rPr lang="en-US" sz="4000" b="1"/>
              <a:t>WORK FLOW</a:t>
            </a:r>
          </a:p>
        </p:txBody>
      </p:sp>
      <p:pic>
        <p:nvPicPr>
          <p:cNvPr id="4" name="Picture 3">
            <a:extLst>
              <a:ext uri="{FF2B5EF4-FFF2-40B4-BE49-F238E27FC236}">
                <a16:creationId xmlns:a16="http://schemas.microsoft.com/office/drawing/2014/main" id="{CAAA0D83-1F07-16D3-B819-F5F452A82CFA}"/>
              </a:ext>
            </a:extLst>
          </p:cNvPr>
          <p:cNvPicPr>
            <a:picLocks noChangeAspect="1"/>
          </p:cNvPicPr>
          <p:nvPr/>
        </p:nvPicPr>
        <p:blipFill>
          <a:blip r:embed="rId2"/>
          <a:stretch>
            <a:fillRect/>
          </a:stretch>
        </p:blipFill>
        <p:spPr>
          <a:xfrm>
            <a:off x="482069" y="704310"/>
            <a:ext cx="11226797" cy="5963784"/>
          </a:xfrm>
          <a:prstGeom prst="rect">
            <a:avLst/>
          </a:prstGeom>
        </p:spPr>
      </p:pic>
    </p:spTree>
    <p:extLst>
      <p:ext uri="{BB962C8B-B14F-4D97-AF65-F5344CB8AC3E}">
        <p14:creationId xmlns:p14="http://schemas.microsoft.com/office/powerpoint/2010/main" val="70949102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FC37-C598-7A15-887E-BA05200514D8}"/>
              </a:ext>
            </a:extLst>
          </p:cNvPr>
          <p:cNvSpPr>
            <a:spLocks noGrp="1"/>
          </p:cNvSpPr>
          <p:nvPr>
            <p:ph type="title"/>
          </p:nvPr>
        </p:nvSpPr>
        <p:spPr>
          <a:xfrm>
            <a:off x="1161368" y="104376"/>
            <a:ext cx="9404723" cy="790931"/>
          </a:xfrm>
        </p:spPr>
        <p:txBody>
          <a:bodyPr/>
          <a:lstStyle/>
          <a:p>
            <a:pPr algn="ctr"/>
            <a:r>
              <a:rPr lang="en-US" sz="4000" b="1"/>
              <a:t>SCREENSHOTS</a:t>
            </a:r>
            <a:endParaRPr lang="en-US" sz="4000"/>
          </a:p>
        </p:txBody>
      </p:sp>
      <p:pic>
        <p:nvPicPr>
          <p:cNvPr id="3" name="Picture 2">
            <a:extLst>
              <a:ext uri="{FF2B5EF4-FFF2-40B4-BE49-F238E27FC236}">
                <a16:creationId xmlns:a16="http://schemas.microsoft.com/office/drawing/2014/main" id="{AEAC3707-77CA-BCD7-63AC-B14035654668}"/>
              </a:ext>
            </a:extLst>
          </p:cNvPr>
          <p:cNvPicPr>
            <a:picLocks noChangeAspect="1"/>
          </p:cNvPicPr>
          <p:nvPr/>
        </p:nvPicPr>
        <p:blipFill>
          <a:blip r:embed="rId2"/>
          <a:stretch>
            <a:fillRect/>
          </a:stretch>
        </p:blipFill>
        <p:spPr>
          <a:xfrm>
            <a:off x="0" y="892629"/>
            <a:ext cx="6030685" cy="2946400"/>
          </a:xfrm>
          <a:prstGeom prst="rect">
            <a:avLst/>
          </a:prstGeom>
        </p:spPr>
      </p:pic>
      <p:pic>
        <p:nvPicPr>
          <p:cNvPr id="4" name="Picture 3">
            <a:extLst>
              <a:ext uri="{FF2B5EF4-FFF2-40B4-BE49-F238E27FC236}">
                <a16:creationId xmlns:a16="http://schemas.microsoft.com/office/drawing/2014/main" id="{CA86C54E-B78E-5872-4AAB-A1C5226A4AE7}"/>
              </a:ext>
            </a:extLst>
          </p:cNvPr>
          <p:cNvPicPr>
            <a:picLocks noChangeAspect="1"/>
          </p:cNvPicPr>
          <p:nvPr/>
        </p:nvPicPr>
        <p:blipFill>
          <a:blip r:embed="rId3"/>
          <a:stretch>
            <a:fillRect/>
          </a:stretch>
        </p:blipFill>
        <p:spPr>
          <a:xfrm>
            <a:off x="6081482" y="892628"/>
            <a:ext cx="6103259" cy="2939144"/>
          </a:xfrm>
          <a:prstGeom prst="rect">
            <a:avLst/>
          </a:prstGeom>
        </p:spPr>
      </p:pic>
      <p:pic>
        <p:nvPicPr>
          <p:cNvPr id="5" name="Picture 4">
            <a:extLst>
              <a:ext uri="{FF2B5EF4-FFF2-40B4-BE49-F238E27FC236}">
                <a16:creationId xmlns:a16="http://schemas.microsoft.com/office/drawing/2014/main" id="{7F60BAF9-D3FF-ABA9-0698-5AB1256B65E5}"/>
              </a:ext>
            </a:extLst>
          </p:cNvPr>
          <p:cNvPicPr>
            <a:picLocks noChangeAspect="1"/>
          </p:cNvPicPr>
          <p:nvPr/>
        </p:nvPicPr>
        <p:blipFill>
          <a:blip r:embed="rId4"/>
          <a:stretch>
            <a:fillRect/>
          </a:stretch>
        </p:blipFill>
        <p:spPr>
          <a:xfrm>
            <a:off x="0" y="3875315"/>
            <a:ext cx="6081485" cy="2982684"/>
          </a:xfrm>
          <a:prstGeom prst="rect">
            <a:avLst/>
          </a:prstGeom>
        </p:spPr>
      </p:pic>
      <p:pic>
        <p:nvPicPr>
          <p:cNvPr id="6" name="Picture 5">
            <a:extLst>
              <a:ext uri="{FF2B5EF4-FFF2-40B4-BE49-F238E27FC236}">
                <a16:creationId xmlns:a16="http://schemas.microsoft.com/office/drawing/2014/main" id="{3CD50EFF-F3C1-BA68-0C96-50AB0F6F4CAB}"/>
              </a:ext>
            </a:extLst>
          </p:cNvPr>
          <p:cNvPicPr>
            <a:picLocks noChangeAspect="1"/>
          </p:cNvPicPr>
          <p:nvPr/>
        </p:nvPicPr>
        <p:blipFill>
          <a:blip r:embed="rId5"/>
          <a:stretch>
            <a:fillRect/>
          </a:stretch>
        </p:blipFill>
        <p:spPr>
          <a:xfrm>
            <a:off x="6095999" y="3839030"/>
            <a:ext cx="6074230" cy="3018970"/>
          </a:xfrm>
          <a:prstGeom prst="rect">
            <a:avLst/>
          </a:prstGeom>
        </p:spPr>
      </p:pic>
    </p:spTree>
    <p:extLst>
      <p:ext uri="{BB962C8B-B14F-4D97-AF65-F5344CB8AC3E}">
        <p14:creationId xmlns:p14="http://schemas.microsoft.com/office/powerpoint/2010/main" val="2531785635"/>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098E1F-4563-EE97-0BD7-A4F9542E287F}"/>
              </a:ext>
            </a:extLst>
          </p:cNvPr>
          <p:cNvPicPr>
            <a:picLocks noChangeAspect="1"/>
          </p:cNvPicPr>
          <p:nvPr/>
        </p:nvPicPr>
        <p:blipFill>
          <a:blip r:embed="rId2"/>
          <a:stretch>
            <a:fillRect/>
          </a:stretch>
        </p:blipFill>
        <p:spPr>
          <a:xfrm>
            <a:off x="0" y="0"/>
            <a:ext cx="6088744" cy="3606800"/>
          </a:xfrm>
          <a:prstGeom prst="rect">
            <a:avLst/>
          </a:prstGeom>
        </p:spPr>
      </p:pic>
      <p:pic>
        <p:nvPicPr>
          <p:cNvPr id="7" name="Picture 6">
            <a:extLst>
              <a:ext uri="{FF2B5EF4-FFF2-40B4-BE49-F238E27FC236}">
                <a16:creationId xmlns:a16="http://schemas.microsoft.com/office/drawing/2014/main" id="{3886772F-FD26-0063-C0E2-E18DE8F3F6D9}"/>
              </a:ext>
            </a:extLst>
          </p:cNvPr>
          <p:cNvPicPr>
            <a:picLocks noChangeAspect="1"/>
          </p:cNvPicPr>
          <p:nvPr/>
        </p:nvPicPr>
        <p:blipFill>
          <a:blip r:embed="rId3"/>
          <a:stretch>
            <a:fillRect/>
          </a:stretch>
        </p:blipFill>
        <p:spPr>
          <a:xfrm>
            <a:off x="6088743" y="-1"/>
            <a:ext cx="6103256" cy="3614059"/>
          </a:xfrm>
          <a:prstGeom prst="rect">
            <a:avLst/>
          </a:prstGeom>
        </p:spPr>
      </p:pic>
      <p:pic>
        <p:nvPicPr>
          <p:cNvPr id="8" name="Picture 7">
            <a:extLst>
              <a:ext uri="{FF2B5EF4-FFF2-40B4-BE49-F238E27FC236}">
                <a16:creationId xmlns:a16="http://schemas.microsoft.com/office/drawing/2014/main" id="{AF05A196-500D-31A8-4B49-3CB8C5771138}"/>
              </a:ext>
            </a:extLst>
          </p:cNvPr>
          <p:cNvPicPr>
            <a:picLocks noChangeAspect="1"/>
          </p:cNvPicPr>
          <p:nvPr/>
        </p:nvPicPr>
        <p:blipFill>
          <a:blip r:embed="rId4"/>
          <a:stretch>
            <a:fillRect/>
          </a:stretch>
        </p:blipFill>
        <p:spPr>
          <a:xfrm>
            <a:off x="0" y="3621315"/>
            <a:ext cx="6088743" cy="3222171"/>
          </a:xfrm>
          <a:prstGeom prst="rect">
            <a:avLst/>
          </a:prstGeom>
        </p:spPr>
      </p:pic>
      <p:pic>
        <p:nvPicPr>
          <p:cNvPr id="9" name="Picture 8">
            <a:extLst>
              <a:ext uri="{FF2B5EF4-FFF2-40B4-BE49-F238E27FC236}">
                <a16:creationId xmlns:a16="http://schemas.microsoft.com/office/drawing/2014/main" id="{DCFECA23-3692-5422-ACF9-7751E7DEA534}"/>
              </a:ext>
            </a:extLst>
          </p:cNvPr>
          <p:cNvPicPr>
            <a:picLocks noChangeAspect="1"/>
          </p:cNvPicPr>
          <p:nvPr/>
        </p:nvPicPr>
        <p:blipFill>
          <a:blip r:embed="rId5"/>
          <a:stretch>
            <a:fillRect/>
          </a:stretch>
        </p:blipFill>
        <p:spPr>
          <a:xfrm>
            <a:off x="6096001" y="3614059"/>
            <a:ext cx="6095999" cy="3236684"/>
          </a:xfrm>
          <a:prstGeom prst="rect">
            <a:avLst/>
          </a:prstGeom>
        </p:spPr>
      </p:pic>
    </p:spTree>
    <p:extLst>
      <p:ext uri="{BB962C8B-B14F-4D97-AF65-F5344CB8AC3E}">
        <p14:creationId xmlns:p14="http://schemas.microsoft.com/office/powerpoint/2010/main" val="791284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96FC576-AE30-4C09-A12C-0582F2A6A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A913E52A-B76B-1D40-DCD8-E5358E43509E}"/>
              </a:ext>
            </a:extLst>
          </p:cNvPr>
          <p:cNvPicPr>
            <a:picLocks noChangeAspect="1"/>
          </p:cNvPicPr>
          <p:nvPr/>
        </p:nvPicPr>
        <p:blipFill>
          <a:blip r:embed="rId2"/>
          <a:srcRect r="2" b="53"/>
          <a:stretch>
            <a:fillRect/>
          </a:stretch>
        </p:blipFill>
        <p:spPr>
          <a:xfrm>
            <a:off x="1" y="10"/>
            <a:ext cx="5932134" cy="3494304"/>
          </a:xfrm>
          <a:prstGeom prst="rect">
            <a:avLst/>
          </a:prstGeom>
        </p:spPr>
      </p:pic>
      <p:pic>
        <p:nvPicPr>
          <p:cNvPr id="6" name="Picture 5">
            <a:extLst>
              <a:ext uri="{FF2B5EF4-FFF2-40B4-BE49-F238E27FC236}">
                <a16:creationId xmlns:a16="http://schemas.microsoft.com/office/drawing/2014/main" id="{7525A842-225C-9756-EB24-A74198847588}"/>
              </a:ext>
            </a:extLst>
          </p:cNvPr>
          <p:cNvPicPr>
            <a:picLocks noChangeAspect="1"/>
          </p:cNvPicPr>
          <p:nvPr/>
        </p:nvPicPr>
        <p:blipFill>
          <a:blip r:embed="rId3"/>
          <a:srcRect r="2" b="53"/>
          <a:stretch>
            <a:fillRect/>
          </a:stretch>
        </p:blipFill>
        <p:spPr>
          <a:xfrm>
            <a:off x="5940552" y="10"/>
            <a:ext cx="6251448" cy="3414475"/>
          </a:xfrm>
          <a:prstGeom prst="rect">
            <a:avLst/>
          </a:prstGeom>
        </p:spPr>
      </p:pic>
      <p:pic>
        <p:nvPicPr>
          <p:cNvPr id="5" name="Picture 4">
            <a:extLst>
              <a:ext uri="{FF2B5EF4-FFF2-40B4-BE49-F238E27FC236}">
                <a16:creationId xmlns:a16="http://schemas.microsoft.com/office/drawing/2014/main" id="{115C637C-D30E-4F42-1B88-62C76463A4DB}"/>
              </a:ext>
            </a:extLst>
          </p:cNvPr>
          <p:cNvPicPr>
            <a:picLocks noChangeAspect="1"/>
          </p:cNvPicPr>
          <p:nvPr/>
        </p:nvPicPr>
        <p:blipFill>
          <a:blip r:embed="rId4"/>
          <a:srcRect r="2" b="52"/>
          <a:stretch>
            <a:fillRect/>
          </a:stretch>
        </p:blipFill>
        <p:spPr>
          <a:xfrm>
            <a:off x="-7256" y="3494313"/>
            <a:ext cx="5939391" cy="3370944"/>
          </a:xfrm>
          <a:prstGeom prst="rect">
            <a:avLst/>
          </a:prstGeom>
        </p:spPr>
      </p:pic>
      <p:pic>
        <p:nvPicPr>
          <p:cNvPr id="7" name="Picture 6">
            <a:extLst>
              <a:ext uri="{FF2B5EF4-FFF2-40B4-BE49-F238E27FC236}">
                <a16:creationId xmlns:a16="http://schemas.microsoft.com/office/drawing/2014/main" id="{4D8DC5FC-60FF-8A67-D9B5-AF838267B8F8}"/>
              </a:ext>
            </a:extLst>
          </p:cNvPr>
          <p:cNvPicPr>
            <a:picLocks noChangeAspect="1"/>
          </p:cNvPicPr>
          <p:nvPr/>
        </p:nvPicPr>
        <p:blipFill>
          <a:blip r:embed="rId5"/>
          <a:srcRect t="50" r="2" b="2"/>
          <a:stretch>
            <a:fillRect/>
          </a:stretch>
        </p:blipFill>
        <p:spPr>
          <a:xfrm>
            <a:off x="5947809" y="3407229"/>
            <a:ext cx="6244191" cy="3450771"/>
          </a:xfrm>
          <a:prstGeom prst="rect">
            <a:avLst/>
          </a:prstGeom>
        </p:spPr>
      </p:pic>
    </p:spTree>
    <p:extLst>
      <p:ext uri="{BB962C8B-B14F-4D97-AF65-F5344CB8AC3E}">
        <p14:creationId xmlns:p14="http://schemas.microsoft.com/office/powerpoint/2010/main" val="19218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9" name="Rectangle 18">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8087C09C-BDF6-8682-AD6A-CFBEF5917AA5}"/>
              </a:ext>
            </a:extLst>
          </p:cNvPr>
          <p:cNvSpPr>
            <a:spLocks noGrp="1"/>
          </p:cNvSpPr>
          <p:nvPr>
            <p:ph type="title"/>
          </p:nvPr>
        </p:nvSpPr>
        <p:spPr>
          <a:xfrm>
            <a:off x="13409811" y="324394"/>
            <a:ext cx="3352375" cy="3066507"/>
          </a:xfrm>
        </p:spPr>
        <p:txBody>
          <a:bodyPr vert="horz" lIns="91440" tIns="45720" rIns="91440" bIns="45720" rtlCol="0" anchor="b">
            <a:normAutofit/>
          </a:bodyPr>
          <a:lstStyle/>
          <a:p>
            <a:endParaRPr lang="en-US" sz="5400"/>
          </a:p>
        </p:txBody>
      </p:sp>
      <p:sp>
        <p:nvSpPr>
          <p:cNvPr id="3" name="Text Placeholder 2">
            <a:extLst>
              <a:ext uri="{FF2B5EF4-FFF2-40B4-BE49-F238E27FC236}">
                <a16:creationId xmlns:a16="http://schemas.microsoft.com/office/drawing/2014/main" id="{43FED213-711C-C6E3-572F-2890F5C27DD4}"/>
              </a:ext>
            </a:extLst>
          </p:cNvPr>
          <p:cNvSpPr>
            <a:spLocks noGrp="1"/>
          </p:cNvSpPr>
          <p:nvPr>
            <p:ph type="body" idx="1"/>
          </p:nvPr>
        </p:nvSpPr>
        <p:spPr>
          <a:xfrm>
            <a:off x="13409811" y="3383643"/>
            <a:ext cx="3352375" cy="1621508"/>
          </a:xfrm>
        </p:spPr>
        <p:txBody>
          <a:bodyPr vert="horz" lIns="91440" tIns="45720" rIns="91440" bIns="45720" rtlCol="0" anchor="t">
            <a:normAutofit/>
          </a:bodyPr>
          <a:lstStyle/>
          <a:p>
            <a:endParaRPr lang="en-US" sz="1800"/>
          </a:p>
        </p:txBody>
      </p:sp>
      <p:sp>
        <p:nvSpPr>
          <p:cNvPr id="21" name="Rectangle 20">
            <a:extLst>
              <a:ext uri="{FF2B5EF4-FFF2-40B4-BE49-F238E27FC236}">
                <a16:creationId xmlns:a16="http://schemas.microsoft.com/office/drawing/2014/main" id="{4C1E981B-F06E-48B4-9275-F4B261AFCA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1571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36">
            <a:extLst>
              <a:ext uri="{FF2B5EF4-FFF2-40B4-BE49-F238E27FC236}">
                <a16:creationId xmlns:a16="http://schemas.microsoft.com/office/drawing/2014/main" id="{312E2C24-0CD2-4071-8CE2-B059993A9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5" name="Freeform 5">
            <a:extLst>
              <a:ext uri="{FF2B5EF4-FFF2-40B4-BE49-F238E27FC236}">
                <a16:creationId xmlns:a16="http://schemas.microsoft.com/office/drawing/2014/main" id="{24F1DC13-C830-4B86-A9C6-927F5C55D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70859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sp>
      <p:pic>
        <p:nvPicPr>
          <p:cNvPr id="4" name="Picture 3">
            <a:extLst>
              <a:ext uri="{FF2B5EF4-FFF2-40B4-BE49-F238E27FC236}">
                <a16:creationId xmlns:a16="http://schemas.microsoft.com/office/drawing/2014/main" id="{2DF30C42-2F7A-B3D5-6CAC-F77FF4651D91}"/>
              </a:ext>
            </a:extLst>
          </p:cNvPr>
          <p:cNvPicPr>
            <a:picLocks noChangeAspect="1"/>
          </p:cNvPicPr>
          <p:nvPr/>
        </p:nvPicPr>
        <p:blipFill>
          <a:blip r:embed="rId7"/>
          <a:stretch>
            <a:fillRect/>
          </a:stretch>
        </p:blipFill>
        <p:spPr>
          <a:xfrm>
            <a:off x="-2032" y="15133"/>
            <a:ext cx="12199745" cy="6841780"/>
          </a:xfrm>
          <a:prstGeom prst="rect">
            <a:avLst/>
          </a:prstGeom>
          <a:effectLst/>
        </p:spPr>
      </p:pic>
    </p:spTree>
    <p:extLst>
      <p:ext uri="{BB962C8B-B14F-4D97-AF65-F5344CB8AC3E}">
        <p14:creationId xmlns:p14="http://schemas.microsoft.com/office/powerpoint/2010/main" val="73501588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31102-BDAF-1D6A-DFF4-4AE3FA2EFE6C}"/>
              </a:ext>
            </a:extLst>
          </p:cNvPr>
          <p:cNvSpPr>
            <a:spLocks noGrp="1"/>
          </p:cNvSpPr>
          <p:nvPr>
            <p:ph type="title"/>
          </p:nvPr>
        </p:nvSpPr>
        <p:spPr>
          <a:xfrm>
            <a:off x="1503299" y="612018"/>
            <a:ext cx="8825657" cy="689191"/>
          </a:xfrm>
        </p:spPr>
        <p:txBody>
          <a:bodyPr/>
          <a:lstStyle/>
          <a:p>
            <a:pPr algn="ctr"/>
            <a:r>
              <a:rPr lang="en-US" b="1"/>
              <a:t>REFERENCES</a:t>
            </a:r>
            <a:endParaRPr lang="en-US"/>
          </a:p>
        </p:txBody>
      </p:sp>
      <p:sp>
        <p:nvSpPr>
          <p:cNvPr id="3" name="Text Placeholder 2">
            <a:extLst>
              <a:ext uri="{FF2B5EF4-FFF2-40B4-BE49-F238E27FC236}">
                <a16:creationId xmlns:a16="http://schemas.microsoft.com/office/drawing/2014/main" id="{DCF85E19-B5F5-E3FA-2B8A-3072199C069E}"/>
              </a:ext>
            </a:extLst>
          </p:cNvPr>
          <p:cNvSpPr>
            <a:spLocks noGrp="1"/>
          </p:cNvSpPr>
          <p:nvPr>
            <p:ph type="body" idx="1"/>
          </p:nvPr>
        </p:nvSpPr>
        <p:spPr>
          <a:xfrm>
            <a:off x="850154" y="1852752"/>
            <a:ext cx="10494801" cy="4329314"/>
          </a:xfrm>
        </p:spPr>
        <p:txBody>
          <a:bodyPr>
            <a:normAutofit/>
          </a:bodyPr>
          <a:lstStyle/>
          <a:p>
            <a:pPr algn="just"/>
            <a:r>
              <a:rPr lang="en-US" sz="2400" b="1" cap="none">
                <a:solidFill>
                  <a:schemeClr val="tx1"/>
                </a:solidFill>
                <a:ea typeface="+mj-lt"/>
                <a:cs typeface="+mj-lt"/>
              </a:rPr>
              <a:t>J. Satya </a:t>
            </a:r>
            <a:r>
              <a:rPr lang="en-US" sz="2400" b="1" cap="none" err="1">
                <a:solidFill>
                  <a:schemeClr val="tx1"/>
                </a:solidFill>
                <a:ea typeface="+mj-lt"/>
                <a:cs typeface="+mj-lt"/>
              </a:rPr>
              <a:t>Vaishnavi</a:t>
            </a:r>
            <a:r>
              <a:rPr lang="en-US" sz="2400" b="1" cap="none">
                <a:solidFill>
                  <a:schemeClr val="tx1"/>
                </a:solidFill>
                <a:ea typeface="+mj-lt"/>
                <a:cs typeface="+mj-lt"/>
              </a:rPr>
              <a:t>, K. Aparna,</a:t>
            </a:r>
            <a:r>
              <a:rPr lang="en-US" sz="2400" cap="none">
                <a:solidFill>
                  <a:schemeClr val="tx1"/>
                </a:solidFill>
                <a:ea typeface="+mj-lt"/>
                <a:cs typeface="+mj-lt"/>
              </a:rPr>
              <a:t> Exam Eval: An Automated Model For Correcting Exam Papers, Journal of Web Engineering &amp; Technology, Vol. 10, No. 3, 2023.</a:t>
            </a:r>
            <a:endParaRPr lang="en-US" sz="2400" cap="none">
              <a:solidFill>
                <a:schemeClr val="tx1"/>
              </a:solidFill>
            </a:endParaRPr>
          </a:p>
          <a:p>
            <a:pPr algn="just"/>
            <a:endParaRPr lang="en-US" sz="2400" cap="none">
              <a:solidFill>
                <a:schemeClr val="tx1"/>
              </a:solidFill>
            </a:endParaRPr>
          </a:p>
          <a:p>
            <a:pPr algn="just"/>
            <a:r>
              <a:rPr lang="en-US" sz="2400" b="1" cap="none">
                <a:solidFill>
                  <a:schemeClr val="tx1"/>
                </a:solidFill>
                <a:ea typeface="+mj-lt"/>
                <a:cs typeface="+mj-lt"/>
              </a:rPr>
              <a:t>Naman Agnihotri, Harshvardhan Grandhi, Dhanashri Patil, Sanika </a:t>
            </a:r>
            <a:r>
              <a:rPr lang="en-US" sz="2400" b="1" cap="none" err="1">
                <a:solidFill>
                  <a:schemeClr val="tx1"/>
                </a:solidFill>
                <a:ea typeface="+mj-lt"/>
                <a:cs typeface="+mj-lt"/>
              </a:rPr>
              <a:t>Kharade</a:t>
            </a:r>
            <a:r>
              <a:rPr lang="en-US" sz="2400" b="1" cap="none">
                <a:solidFill>
                  <a:schemeClr val="tx1"/>
                </a:solidFill>
                <a:ea typeface="+mj-lt"/>
                <a:cs typeface="+mj-lt"/>
              </a:rPr>
              <a:t>,</a:t>
            </a:r>
            <a:r>
              <a:rPr lang="en-US" sz="2400" cap="none">
                <a:solidFill>
                  <a:schemeClr val="tx1"/>
                </a:solidFill>
                <a:ea typeface="+mj-lt"/>
                <a:cs typeface="+mj-lt"/>
              </a:rPr>
              <a:t> Ai-powered Exam Assessment System for Handwritten Answer Sheets, International Journal of Innovative Science and Research Technology (IJISRT), Vol. 10, Issue 3, 2025.</a:t>
            </a:r>
            <a:endParaRPr lang="en-US" sz="2400" cap="none">
              <a:solidFill>
                <a:schemeClr val="tx1"/>
              </a:solidFill>
            </a:endParaRPr>
          </a:p>
          <a:p>
            <a:pPr algn="just"/>
            <a:endParaRPr lang="en-US" sz="2400" cap="none">
              <a:solidFill>
                <a:schemeClr val="tx1"/>
              </a:solidFill>
            </a:endParaRPr>
          </a:p>
          <a:p>
            <a:pPr algn="just"/>
            <a:endParaRPr lang="en-US" sz="1800" cap="none">
              <a:solidFill>
                <a:schemeClr val="tx1"/>
              </a:solidFill>
            </a:endParaRPr>
          </a:p>
          <a:p>
            <a:pPr algn="just"/>
            <a:endParaRPr lang="en-US" sz="1800">
              <a:solidFill>
                <a:schemeClr val="tx1"/>
              </a:solidFill>
            </a:endParaRPr>
          </a:p>
          <a:p>
            <a:pPr algn="just"/>
            <a:endParaRPr lang="en-US" sz="1800">
              <a:solidFill>
                <a:srgbClr val="000000"/>
              </a:solidFill>
            </a:endParaRPr>
          </a:p>
        </p:txBody>
      </p:sp>
    </p:spTree>
    <p:extLst>
      <p:ext uri="{BB962C8B-B14F-4D97-AF65-F5344CB8AC3E}">
        <p14:creationId xmlns:p14="http://schemas.microsoft.com/office/powerpoint/2010/main" val="20898765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68" name="Picture 67">
            <a:extLst>
              <a:ext uri="{FF2B5EF4-FFF2-40B4-BE49-F238E27FC236}">
                <a16:creationId xmlns:a16="http://schemas.microsoft.com/office/drawing/2014/main" id="{AA085689-791F-4B8F-9F30-12415B97D3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9" name="Picture 68">
            <a:extLst>
              <a:ext uri="{FF2B5EF4-FFF2-40B4-BE49-F238E27FC236}">
                <a16:creationId xmlns:a16="http://schemas.microsoft.com/office/drawing/2014/main" id="{AA3FED7F-6821-47C0-A464-E9278B24129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70" name="Oval 69">
            <a:extLst>
              <a:ext uri="{FF2B5EF4-FFF2-40B4-BE49-F238E27FC236}">
                <a16:creationId xmlns:a16="http://schemas.microsoft.com/office/drawing/2014/main" id="{8F54B2FB-3F54-4350-8D1B-F86D677CA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71" name="Picture 70">
            <a:extLst>
              <a:ext uri="{FF2B5EF4-FFF2-40B4-BE49-F238E27FC236}">
                <a16:creationId xmlns:a16="http://schemas.microsoft.com/office/drawing/2014/main" id="{561B34F5-88E5-4711-BC16-3005C29AD7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72" name="Picture 71">
            <a:extLst>
              <a:ext uri="{FF2B5EF4-FFF2-40B4-BE49-F238E27FC236}">
                <a16:creationId xmlns:a16="http://schemas.microsoft.com/office/drawing/2014/main" id="{4F3661D0-2268-4D3E-88BA-0647BCBE33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73" name="Rectangle 72">
            <a:extLst>
              <a:ext uri="{FF2B5EF4-FFF2-40B4-BE49-F238E27FC236}">
                <a16:creationId xmlns:a16="http://schemas.microsoft.com/office/drawing/2014/main" id="{DDB56DB5-0324-4F79-9AB8-CB18C1DC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5B4696D-AE07-6C4D-1B6F-D6BB5A4F6610}"/>
              </a:ext>
            </a:extLst>
          </p:cNvPr>
          <p:cNvSpPr>
            <a:spLocks noGrp="1"/>
          </p:cNvSpPr>
          <p:nvPr>
            <p:ph type="title"/>
          </p:nvPr>
        </p:nvSpPr>
        <p:spPr>
          <a:xfrm>
            <a:off x="8201837" y="1454963"/>
            <a:ext cx="3342462" cy="3308380"/>
          </a:xfrm>
        </p:spPr>
        <p:txBody>
          <a:bodyPr vert="horz" lIns="91440" tIns="45720" rIns="91440" bIns="45720" rtlCol="0" anchor="b">
            <a:normAutofit/>
          </a:bodyPr>
          <a:lstStyle/>
          <a:p>
            <a:r>
              <a:rPr lang="en-US" sz="6000"/>
              <a:t>    </a:t>
            </a:r>
          </a:p>
        </p:txBody>
      </p:sp>
      <p:sp>
        <p:nvSpPr>
          <p:cNvPr id="3" name="Text Placeholder 2">
            <a:extLst>
              <a:ext uri="{FF2B5EF4-FFF2-40B4-BE49-F238E27FC236}">
                <a16:creationId xmlns:a16="http://schemas.microsoft.com/office/drawing/2014/main" id="{834740A9-B0E4-06D2-C6B0-E80283519C44}"/>
              </a:ext>
            </a:extLst>
          </p:cNvPr>
          <p:cNvSpPr>
            <a:spLocks noGrp="1"/>
          </p:cNvSpPr>
          <p:nvPr>
            <p:ph type="body" idx="1"/>
          </p:nvPr>
        </p:nvSpPr>
        <p:spPr>
          <a:xfrm>
            <a:off x="8201837" y="4763342"/>
            <a:ext cx="3342462" cy="1485055"/>
          </a:xfrm>
        </p:spPr>
        <p:txBody>
          <a:bodyPr vert="horz" lIns="91440" tIns="45720" rIns="91440" bIns="45720" rtlCol="0" anchor="t">
            <a:normAutofit/>
          </a:bodyPr>
          <a:lstStyle/>
          <a:p>
            <a:endParaRPr lang="en-US" sz="1800"/>
          </a:p>
          <a:p>
            <a:endParaRPr lang="en-US" sz="1800"/>
          </a:p>
        </p:txBody>
      </p:sp>
      <p:sp>
        <p:nvSpPr>
          <p:cNvPr id="5" name="TextBox 4">
            <a:extLst>
              <a:ext uri="{FF2B5EF4-FFF2-40B4-BE49-F238E27FC236}">
                <a16:creationId xmlns:a16="http://schemas.microsoft.com/office/drawing/2014/main" id="{D64E8410-AA38-CB98-FE13-4F9298659158}"/>
              </a:ext>
            </a:extLst>
          </p:cNvPr>
          <p:cNvSpPr txBox="1"/>
          <p:nvPr/>
        </p:nvSpPr>
        <p:spPr>
          <a:xfrm>
            <a:off x="703943" y="2086430"/>
            <a:ext cx="10784114"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a:t>The </a:t>
            </a:r>
            <a:r>
              <a:rPr lang="en-US" sz="2400" b="1"/>
              <a:t>Automated Exam Sheet Grader</a:t>
            </a:r>
            <a:r>
              <a:rPr lang="en-US" sz="2400"/>
              <a:t> simplifies the examination and evaluation process by providing an efficient and user-friendly platform for teachers and students. It </a:t>
            </a:r>
            <a:r>
              <a:rPr lang="en-US" sz="2400" err="1"/>
              <a:t>a</a:t>
            </a:r>
            <a:r>
              <a:rPr lang="en-US" sz="2400"/>
              <a:t>llows create to assessment, generates performance reports, and delivers timely feedback. By reducing manual effort and improving accuracy, the system makes examinations faster, more transparent, and more reliable, enhancing the overall teaching and learning experience</a:t>
            </a:r>
          </a:p>
          <a:p>
            <a:pPr algn="just"/>
            <a:endParaRPr lang="en-US" sz="2400"/>
          </a:p>
        </p:txBody>
      </p:sp>
      <p:sp>
        <p:nvSpPr>
          <p:cNvPr id="6" name="TextBox 5">
            <a:extLst>
              <a:ext uri="{FF2B5EF4-FFF2-40B4-BE49-F238E27FC236}">
                <a16:creationId xmlns:a16="http://schemas.microsoft.com/office/drawing/2014/main" id="{B6F11C8F-7F6A-60C6-7E5F-C8EF1B72F296}"/>
              </a:ext>
            </a:extLst>
          </p:cNvPr>
          <p:cNvSpPr txBox="1"/>
          <p:nvPr/>
        </p:nvSpPr>
        <p:spPr>
          <a:xfrm>
            <a:off x="3048000" y="896258"/>
            <a:ext cx="606697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a:t>
            </a:r>
            <a:r>
              <a:rPr lang="en-US" sz="3600" b="1"/>
              <a:t> CONCLUSION</a:t>
            </a:r>
          </a:p>
          <a:p>
            <a:pPr algn="ctr"/>
            <a:endParaRPr lang="en-US"/>
          </a:p>
        </p:txBody>
      </p:sp>
    </p:spTree>
    <p:extLst>
      <p:ext uri="{BB962C8B-B14F-4D97-AF65-F5344CB8AC3E}">
        <p14:creationId xmlns:p14="http://schemas.microsoft.com/office/powerpoint/2010/main" val="1005220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7B2E-F3FC-19D4-B9B0-8CE6E3989BF9}"/>
              </a:ext>
            </a:extLst>
          </p:cNvPr>
          <p:cNvSpPr>
            <a:spLocks noGrp="1"/>
          </p:cNvSpPr>
          <p:nvPr>
            <p:ph type="title"/>
          </p:nvPr>
        </p:nvSpPr>
        <p:spPr>
          <a:xfrm>
            <a:off x="2844030" y="2752598"/>
            <a:ext cx="7261899" cy="1343532"/>
          </a:xfrm>
        </p:spPr>
        <p:txBody>
          <a:bodyPr/>
          <a:lstStyle/>
          <a:p>
            <a:r>
              <a:rPr lang="en-US" sz="9000" b="1">
                <a:latin typeface="Century Gothic"/>
                <a:cs typeface="Times New Roman"/>
              </a:rPr>
              <a:t>THANK YOU</a:t>
            </a:r>
          </a:p>
        </p:txBody>
      </p:sp>
    </p:spTree>
    <p:extLst>
      <p:ext uri="{BB962C8B-B14F-4D97-AF65-F5344CB8AC3E}">
        <p14:creationId xmlns:p14="http://schemas.microsoft.com/office/powerpoint/2010/main" val="14451548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Ion</vt:lpstr>
      <vt:lpstr> </vt:lpstr>
      <vt:lpstr>PowerPoint Presentation</vt:lpstr>
      <vt:lpstr>The increasing use of digital technology in education has transformed the way examinations are conducted and evaluated. Traditional evaluation methods are time-consuming and require significant manual effort. The Automated Exam Sheet Grader is designed to simplify examination management and student evaluation. It enables teachers to manage examinations efficiently, while students can attend exams and access their results through a dedicated portal. The system also provides performance analysis, including grades and feedback. The main objective of this project is to reduce manual workload and provide faster, accurate, and reliable evaluation with an improved user experience.</vt:lpstr>
      <vt:lpstr>LITERATURE SURVEY</vt:lpstr>
      <vt:lpstr>DOMAIN KNOWLEDGE</vt:lpstr>
      <vt:lpstr>MODULES</vt:lpstr>
      <vt:lpstr>WORK FLOW</vt:lpstr>
      <vt:lpstr>SCREENSHOTS</vt:lpstr>
      <vt:lpstr>PowerPoint Presentation</vt:lpstr>
      <vt:lpstr>PowerPoint Presentation</vt:lpstr>
      <vt:lpstr>PowerPoint Presentation</vt:lpstr>
      <vt:lpstr>REFERENCES</vt:lpstr>
      <vt:lpstr>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 Sri</dc:creator>
  <cp:revision>20</cp:revision>
  <dcterms:created xsi:type="dcterms:W3CDTF">2025-06-28T01:44:31Z</dcterms:created>
  <dcterms:modified xsi:type="dcterms:W3CDTF">2026-07-17T16:08:58Z</dcterms:modified>
</cp:coreProperties>
</file>